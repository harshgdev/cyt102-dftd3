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20"/>
  </p:notesMasterIdLst>
  <p:sldIdLst>
    <p:sldId id="262" r:id="rId2"/>
    <p:sldId id="269" r:id="rId3"/>
    <p:sldId id="271" r:id="rId4"/>
    <p:sldId id="273" r:id="rId5"/>
    <p:sldId id="274" r:id="rId6"/>
    <p:sldId id="276" r:id="rId7"/>
    <p:sldId id="275" r:id="rId8"/>
    <p:sldId id="279" r:id="rId9"/>
    <p:sldId id="278" r:id="rId10"/>
    <p:sldId id="277" r:id="rId11"/>
    <p:sldId id="272" r:id="rId12"/>
    <p:sldId id="285" r:id="rId13"/>
    <p:sldId id="281" r:id="rId14"/>
    <p:sldId id="282" r:id="rId15"/>
    <p:sldId id="286" r:id="rId16"/>
    <p:sldId id="284" r:id="rId17"/>
    <p:sldId id="283" r:id="rId18"/>
    <p:sldId id="266" r:id="rId19"/>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FFFFFF"/>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2" d="100"/>
          <a:sy n="82" d="100"/>
        </p:scale>
        <p:origin x="1459"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68DC72-0701-4922-B9D1-CBFB540736DA}" type="datetimeFigureOut">
              <a:rPr lang="en-IN" smtClean="0"/>
              <a:t>18-04-2026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C433DB3-0243-45D5-87FD-27D2F51D2003}" type="slidenum">
              <a:rPr lang="en-IN" smtClean="0"/>
              <a:t>‹#›</a:t>
            </a:fld>
            <a:endParaRPr lang="en-IN"/>
          </a:p>
        </p:txBody>
      </p:sp>
    </p:spTree>
    <p:extLst>
      <p:ext uri="{BB962C8B-B14F-4D97-AF65-F5344CB8AC3E}">
        <p14:creationId xmlns:p14="http://schemas.microsoft.com/office/powerpoint/2010/main" val="1069364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0" y="0"/>
            <a:ext cx="9152529" cy="736270"/>
          </a:xfrm>
          <a:prstGeom prst="rect">
            <a:avLst/>
          </a:prstGeom>
          <a:gradFill>
            <a:gsLst>
              <a:gs pos="1000">
                <a:srgbClr val="166018"/>
              </a:gs>
              <a:gs pos="52000">
                <a:srgbClr val="00B0F0"/>
              </a:gs>
              <a:gs pos="100000">
                <a:schemeClr val="tx2">
                  <a:lumMod val="75000"/>
                </a:schemeClr>
              </a:gs>
              <a:gs pos="100000">
                <a:srgbClr val="4D0808"/>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prstClr val="white"/>
                </a:solidFill>
                <a:latin typeface="Franklin Gothic Demi" pitchFamily="34" charset="0"/>
              </a:rPr>
              <a:t>INDIAN INSTITUTE OF TECHNOLOGY ROORKEE</a:t>
            </a:r>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377895" y="-1281"/>
            <a:ext cx="755828" cy="732103"/>
          </a:xfrm>
          <a:prstGeom prst="rect">
            <a:avLst/>
          </a:prstGeom>
        </p:spPr>
      </p:pic>
      <p:pic>
        <p:nvPicPr>
          <p:cNvPr id="1027" name="Picture 3"/>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5006150"/>
            <a:ext cx="9133727" cy="185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77814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tretch>
            <a:fillRect/>
          </a:stretch>
        </p:blipFill>
        <p:spPr>
          <a:xfrm>
            <a:off x="8164285" y="-1480"/>
            <a:ext cx="979715" cy="961360"/>
          </a:xfrm>
          <a:prstGeom prst="rect">
            <a:avLst/>
          </a:prstGeom>
        </p:spPr>
      </p:pic>
      <p:cxnSp>
        <p:nvCxnSpPr>
          <p:cNvPr id="8" name="Straight Connector 7"/>
          <p:cNvCxnSpPr/>
          <p:nvPr userDrawn="1"/>
        </p:nvCxnSpPr>
        <p:spPr>
          <a:xfrm>
            <a:off x="0" y="990600"/>
            <a:ext cx="9144000" cy="0"/>
          </a:xfrm>
          <a:prstGeom prst="line">
            <a:avLst/>
          </a:prstGeom>
          <a:ln w="508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0" y="6756400"/>
            <a:ext cx="9144000" cy="0"/>
          </a:xfrm>
          <a:prstGeom prst="line">
            <a:avLst/>
          </a:prstGeom>
          <a:ln w="2222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10"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64197" y="6447291"/>
            <a:ext cx="16668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p:cNvPicPr>
            <a:picLocks noChangeAspect="1"/>
          </p:cNvPicPr>
          <p:nvPr userDrawn="1"/>
        </p:nvPicPr>
        <p:blipFill>
          <a:blip r:embed="rId4">
            <a:lum bright="3000"/>
          </a:blip>
          <a:stretch>
            <a:fillRect/>
          </a:stretch>
        </p:blipFill>
        <p:spPr>
          <a:xfrm>
            <a:off x="1873072" y="2118212"/>
            <a:ext cx="5321656" cy="3510576"/>
          </a:xfrm>
          <a:prstGeom prst="rect">
            <a:avLst/>
          </a:prstGeom>
        </p:spPr>
      </p:pic>
      <p:sp>
        <p:nvSpPr>
          <p:cNvPr id="17" name="Slide Number Placeholder 5"/>
          <p:cNvSpPr txBox="1">
            <a:spLocks/>
          </p:cNvSpPr>
          <p:nvPr userDrawn="1"/>
        </p:nvSpPr>
        <p:spPr>
          <a:xfrm>
            <a:off x="8382001" y="6607628"/>
            <a:ext cx="762000" cy="198808"/>
          </a:xfrm>
          <a:prstGeom prst="rect">
            <a:avLst/>
          </a:prstGeom>
        </p:spPr>
        <p:txBody>
          <a:bodyPr/>
          <a:lstStyle>
            <a:defPPr>
              <a:defRPr lang="en-US"/>
            </a:defPPr>
            <a:lvl1pPr algn="l" rtl="0" eaLnBrk="0" fontAlgn="base" hangingPunct="0">
              <a:spcBef>
                <a:spcPct val="0"/>
              </a:spcBef>
              <a:spcAft>
                <a:spcPct val="0"/>
              </a:spcAft>
              <a:defRPr sz="1400" b="1" kern="1200">
                <a:solidFill>
                  <a:schemeClr val="bg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algn="r">
              <a:defRPr/>
            </a:pPr>
            <a:fld id="{0FF7DBA9-935E-47CE-962B-4680C9109015}" type="slidenum">
              <a:rPr lang="en-US" altLang="en-US" smtClean="0"/>
              <a:pPr algn="r">
                <a:defRPr/>
              </a:pPr>
              <a:t>‹#›</a:t>
            </a:fld>
            <a:endParaRPr lang="en-US" altLang="en-US" dirty="0"/>
          </a:p>
        </p:txBody>
      </p:sp>
      <p:sp>
        <p:nvSpPr>
          <p:cNvPr id="11" name="Title 1"/>
          <p:cNvSpPr>
            <a:spLocks noGrp="1"/>
          </p:cNvSpPr>
          <p:nvPr>
            <p:ph type="title"/>
          </p:nvPr>
        </p:nvSpPr>
        <p:spPr>
          <a:xfrm>
            <a:off x="180654" y="202990"/>
            <a:ext cx="7042080" cy="554587"/>
          </a:xfrm>
        </p:spPr>
        <p:txBody>
          <a:bodyPr/>
          <a:lstStyle>
            <a:lvl1pPr algn="l">
              <a:defRPr sz="3200" b="1"/>
            </a:lvl1pPr>
          </a:lstStyle>
          <a:p>
            <a:r>
              <a:rPr lang="en-US" dirty="0"/>
              <a:t>Click to edit Master title style</a:t>
            </a:r>
            <a:endParaRPr lang="en-IN" dirty="0"/>
          </a:p>
        </p:txBody>
      </p:sp>
      <p:sp>
        <p:nvSpPr>
          <p:cNvPr id="12" name="Content Placeholder 3"/>
          <p:cNvSpPr>
            <a:spLocks noGrp="1"/>
          </p:cNvSpPr>
          <p:nvPr>
            <p:ph sz="half" idx="2"/>
          </p:nvPr>
        </p:nvSpPr>
        <p:spPr>
          <a:xfrm>
            <a:off x="180653" y="1173984"/>
            <a:ext cx="8768137" cy="5223272"/>
          </a:xfrm>
        </p:spPr>
        <p:txBody>
          <a:bodyPr/>
          <a:lstStyle>
            <a:lvl1pPr>
              <a:defRPr sz="240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18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218656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preserve="1">
  <p:cSld name="Comparison Slide">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a:lum bright="3000"/>
          </a:blip>
          <a:stretch>
            <a:fillRect/>
          </a:stretch>
        </p:blipFill>
        <p:spPr>
          <a:xfrm>
            <a:off x="1873072" y="2118212"/>
            <a:ext cx="5321656" cy="3510576"/>
          </a:xfrm>
          <a:prstGeom prst="rect">
            <a:avLst/>
          </a:prstGeom>
        </p:spPr>
      </p:pic>
      <p:sp>
        <p:nvSpPr>
          <p:cNvPr id="2" name="Title 1"/>
          <p:cNvSpPr>
            <a:spLocks noGrp="1"/>
          </p:cNvSpPr>
          <p:nvPr>
            <p:ph type="title"/>
          </p:nvPr>
        </p:nvSpPr>
        <p:spPr>
          <a:xfrm>
            <a:off x="180654" y="202990"/>
            <a:ext cx="7042080" cy="554587"/>
          </a:xfrm>
        </p:spPr>
        <p:txBody>
          <a:bodyPr/>
          <a:lstStyle>
            <a:lvl1pPr algn="l">
              <a:defRPr sz="3200" b="1"/>
            </a:lvl1pPr>
          </a:lstStyle>
          <a:p>
            <a:r>
              <a:rPr lang="en-US" dirty="0"/>
              <a:t>Click to edit Master title style</a:t>
            </a:r>
            <a:endParaRPr lang="en-IN" dirty="0"/>
          </a:p>
        </p:txBody>
      </p:sp>
      <p:sp>
        <p:nvSpPr>
          <p:cNvPr id="3" name="Text Placeholder 2"/>
          <p:cNvSpPr>
            <a:spLocks noGrp="1"/>
          </p:cNvSpPr>
          <p:nvPr>
            <p:ph type="body" idx="1"/>
          </p:nvPr>
        </p:nvSpPr>
        <p:spPr>
          <a:xfrm>
            <a:off x="180654" y="1132413"/>
            <a:ext cx="4288604" cy="48063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80654" y="1613043"/>
            <a:ext cx="4288604" cy="478421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Text Placeholder 4"/>
          <p:cNvSpPr>
            <a:spLocks noGrp="1"/>
          </p:cNvSpPr>
          <p:nvPr>
            <p:ph type="body" sz="quarter" idx="3"/>
          </p:nvPr>
        </p:nvSpPr>
        <p:spPr>
          <a:xfrm>
            <a:off x="4645025" y="1125166"/>
            <a:ext cx="4242121" cy="48787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613043"/>
            <a:ext cx="4242121" cy="478421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pic>
        <p:nvPicPr>
          <p:cNvPr id="10" name="Picture 9"/>
          <p:cNvPicPr>
            <a:picLocks noChangeAspect="1"/>
          </p:cNvPicPr>
          <p:nvPr userDrawn="1"/>
        </p:nvPicPr>
        <p:blipFill>
          <a:blip r:embed="rId3"/>
          <a:stretch>
            <a:fillRect/>
          </a:stretch>
        </p:blipFill>
        <p:spPr>
          <a:xfrm>
            <a:off x="8164285" y="-1480"/>
            <a:ext cx="979715" cy="961360"/>
          </a:xfrm>
          <a:prstGeom prst="rect">
            <a:avLst/>
          </a:prstGeom>
        </p:spPr>
      </p:pic>
      <p:cxnSp>
        <p:nvCxnSpPr>
          <p:cNvPr id="11" name="Straight Connector 10"/>
          <p:cNvCxnSpPr/>
          <p:nvPr userDrawn="1"/>
        </p:nvCxnSpPr>
        <p:spPr>
          <a:xfrm>
            <a:off x="0" y="990600"/>
            <a:ext cx="9144000" cy="0"/>
          </a:xfrm>
          <a:prstGeom prst="line">
            <a:avLst/>
          </a:prstGeom>
          <a:ln w="508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0" y="6756400"/>
            <a:ext cx="9144000" cy="0"/>
          </a:xfrm>
          <a:prstGeom prst="line">
            <a:avLst/>
          </a:prstGeom>
          <a:ln w="2222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14"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464197" y="6447291"/>
            <a:ext cx="16668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Slide Number Placeholder 5"/>
          <p:cNvSpPr txBox="1">
            <a:spLocks/>
          </p:cNvSpPr>
          <p:nvPr userDrawn="1"/>
        </p:nvSpPr>
        <p:spPr>
          <a:xfrm>
            <a:off x="8382001" y="6607628"/>
            <a:ext cx="762000" cy="198808"/>
          </a:xfrm>
          <a:prstGeom prst="rect">
            <a:avLst/>
          </a:prstGeom>
        </p:spPr>
        <p:txBody>
          <a:bodyPr/>
          <a:lstStyle>
            <a:defPPr>
              <a:defRPr lang="en-US"/>
            </a:defPPr>
            <a:lvl1pPr algn="l" rtl="0" eaLnBrk="0" fontAlgn="base" hangingPunct="0">
              <a:spcBef>
                <a:spcPct val="0"/>
              </a:spcBef>
              <a:spcAft>
                <a:spcPct val="0"/>
              </a:spcAft>
              <a:defRPr sz="1400" b="1" kern="1200">
                <a:solidFill>
                  <a:schemeClr val="bg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algn="r">
              <a:defRPr/>
            </a:pPr>
            <a:fld id="{0FF7DBA9-935E-47CE-962B-4680C9109015}" type="slidenum">
              <a:rPr lang="en-US" altLang="en-US" smtClean="0"/>
              <a:pPr algn="r">
                <a:defRPr/>
              </a:pPr>
              <a:t>‹#›</a:t>
            </a:fld>
            <a:endParaRPr lang="en-US" altLang="en-US" dirty="0"/>
          </a:p>
        </p:txBody>
      </p:sp>
    </p:spTree>
    <p:extLst>
      <p:ext uri="{BB962C8B-B14F-4D97-AF65-F5344CB8AC3E}">
        <p14:creationId xmlns:p14="http://schemas.microsoft.com/office/powerpoint/2010/main" val="2618922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lum bright="3000"/>
          </a:blip>
          <a:stretch>
            <a:fillRect/>
          </a:stretch>
        </p:blipFill>
        <p:spPr>
          <a:xfrm>
            <a:off x="1873072" y="2118212"/>
            <a:ext cx="5321656" cy="3510576"/>
          </a:xfrm>
          <a:prstGeom prst="rect">
            <a:avLst/>
          </a:prstGeom>
        </p:spPr>
      </p:pic>
      <p:pic>
        <p:nvPicPr>
          <p:cNvPr id="6" name="Picture 5"/>
          <p:cNvPicPr>
            <a:picLocks noChangeAspect="1"/>
          </p:cNvPicPr>
          <p:nvPr userDrawn="1"/>
        </p:nvPicPr>
        <p:blipFill>
          <a:blip r:embed="rId3"/>
          <a:stretch>
            <a:fillRect/>
          </a:stretch>
        </p:blipFill>
        <p:spPr>
          <a:xfrm>
            <a:off x="8164285" y="-1480"/>
            <a:ext cx="979715" cy="961360"/>
          </a:xfrm>
          <a:prstGeom prst="rect">
            <a:avLst/>
          </a:prstGeom>
        </p:spPr>
      </p:pic>
      <p:cxnSp>
        <p:nvCxnSpPr>
          <p:cNvPr id="7" name="Straight Connector 6"/>
          <p:cNvCxnSpPr/>
          <p:nvPr userDrawn="1"/>
        </p:nvCxnSpPr>
        <p:spPr>
          <a:xfrm>
            <a:off x="0" y="990600"/>
            <a:ext cx="9144000" cy="0"/>
          </a:xfrm>
          <a:prstGeom prst="line">
            <a:avLst/>
          </a:prstGeom>
          <a:ln w="508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a:off x="0" y="6756400"/>
            <a:ext cx="9144000" cy="0"/>
          </a:xfrm>
          <a:prstGeom prst="line">
            <a:avLst/>
          </a:prstGeom>
          <a:ln w="2222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9"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464197" y="6447291"/>
            <a:ext cx="16668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Slide Number Placeholder 5"/>
          <p:cNvSpPr txBox="1">
            <a:spLocks/>
          </p:cNvSpPr>
          <p:nvPr userDrawn="1"/>
        </p:nvSpPr>
        <p:spPr>
          <a:xfrm>
            <a:off x="8382001" y="6607628"/>
            <a:ext cx="762000" cy="198808"/>
          </a:xfrm>
          <a:prstGeom prst="rect">
            <a:avLst/>
          </a:prstGeom>
        </p:spPr>
        <p:txBody>
          <a:bodyPr/>
          <a:lstStyle>
            <a:defPPr>
              <a:defRPr lang="en-US"/>
            </a:defPPr>
            <a:lvl1pPr algn="l" rtl="0" eaLnBrk="0" fontAlgn="base" hangingPunct="0">
              <a:spcBef>
                <a:spcPct val="0"/>
              </a:spcBef>
              <a:spcAft>
                <a:spcPct val="0"/>
              </a:spcAft>
              <a:defRPr sz="1400" b="1" kern="1200">
                <a:solidFill>
                  <a:schemeClr val="bg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algn="r">
              <a:defRPr/>
            </a:pPr>
            <a:fld id="{0FF7DBA9-935E-47CE-962B-4680C9109015}" type="slidenum">
              <a:rPr lang="en-US" altLang="en-US" smtClean="0"/>
              <a:pPr algn="r">
                <a:defRPr/>
              </a:pPr>
              <a:t>‹#›</a:t>
            </a:fld>
            <a:endParaRPr lang="en-US" altLang="en-US" dirty="0"/>
          </a:p>
        </p:txBody>
      </p:sp>
    </p:spTree>
    <p:extLst>
      <p:ext uri="{BB962C8B-B14F-4D97-AF65-F5344CB8AC3E}">
        <p14:creationId xmlns:p14="http://schemas.microsoft.com/office/powerpoint/2010/main" val="77751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17" name="Slide Number Placeholder 5"/>
          <p:cNvSpPr txBox="1">
            <a:spLocks/>
          </p:cNvSpPr>
          <p:nvPr userDrawn="1"/>
        </p:nvSpPr>
        <p:spPr>
          <a:xfrm>
            <a:off x="8382001" y="6607628"/>
            <a:ext cx="762000" cy="198808"/>
          </a:xfrm>
          <a:prstGeom prst="rect">
            <a:avLst/>
          </a:prstGeom>
        </p:spPr>
        <p:txBody>
          <a:bodyPr/>
          <a:lstStyle>
            <a:defPPr>
              <a:defRPr lang="en-US"/>
            </a:defPPr>
            <a:lvl1pPr algn="l" rtl="0" eaLnBrk="0" fontAlgn="base" hangingPunct="0">
              <a:spcBef>
                <a:spcPct val="0"/>
              </a:spcBef>
              <a:spcAft>
                <a:spcPct val="0"/>
              </a:spcAft>
              <a:defRPr sz="1400" b="1" kern="1200">
                <a:solidFill>
                  <a:schemeClr val="bg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algn="r">
              <a:defRPr/>
            </a:pPr>
            <a:fld id="{0FF7DBA9-935E-47CE-962B-4680C9109015}" type="slidenum">
              <a:rPr lang="en-US" altLang="en-US" smtClean="0"/>
              <a:pPr algn="r">
                <a:defRPr/>
              </a:pPr>
              <a:t>‹#›</a:t>
            </a:fld>
            <a:endParaRPr lang="en-US" altLang="en-US" dirty="0"/>
          </a:p>
        </p:txBody>
      </p:sp>
      <p:sp>
        <p:nvSpPr>
          <p:cNvPr id="11" name="Title 1"/>
          <p:cNvSpPr>
            <a:spLocks noGrp="1"/>
          </p:cNvSpPr>
          <p:nvPr>
            <p:ph type="title" hasCustomPrompt="1"/>
          </p:nvPr>
        </p:nvSpPr>
        <p:spPr>
          <a:xfrm>
            <a:off x="3363913" y="2971801"/>
            <a:ext cx="2452687" cy="711200"/>
          </a:xfrm>
        </p:spPr>
        <p:txBody>
          <a:bodyPr anchor="t"/>
          <a:lstStyle>
            <a:lvl1pPr algn="ctr">
              <a:defRPr sz="3600" b="1" cap="none"/>
            </a:lvl1pPr>
          </a:lstStyle>
          <a:p>
            <a:r>
              <a:rPr lang="en-US" dirty="0"/>
              <a:t>Thanks…</a:t>
            </a:r>
            <a:endParaRPr lang="en-IN" dirty="0"/>
          </a:p>
        </p:txBody>
      </p:sp>
      <p:cxnSp>
        <p:nvCxnSpPr>
          <p:cNvPr id="12" name="Straight Connector 11"/>
          <p:cNvCxnSpPr/>
          <p:nvPr userDrawn="1"/>
        </p:nvCxnSpPr>
        <p:spPr>
          <a:xfrm>
            <a:off x="3595524" y="3619535"/>
            <a:ext cx="2009553" cy="0"/>
          </a:xfrm>
          <a:prstGeom prst="line">
            <a:avLst/>
          </a:prstGeom>
          <a:ln w="508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90766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fld id="{247F8E96-40AA-459E-91AA-55A5F97CAAA0}" type="datetime1">
              <a:rPr lang="en-US" smtClean="0">
                <a:solidFill>
                  <a:prstClr val="black">
                    <a:tint val="75000"/>
                  </a:prstClr>
                </a:solidFill>
              </a:rPr>
              <a:t>4/18/2026</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D4CB9294-F9FF-4346-BE48-1C04129C722B}" type="slidenum">
              <a:rPr lang="en-US" altLang="en-US">
                <a:solidFill>
                  <a:prstClr val="black">
                    <a:tint val="75000"/>
                  </a:prstClr>
                </a:solidFill>
              </a:rPr>
              <a:pPr>
                <a:defRPr/>
              </a:pPr>
              <a:t>‹#›</a:t>
            </a:fld>
            <a:endParaRPr lang="en-US" altLang="en-US">
              <a:solidFill>
                <a:prstClr val="black">
                  <a:tint val="75000"/>
                </a:prstClr>
              </a:solidFill>
            </a:endParaRPr>
          </a:p>
        </p:txBody>
      </p:sp>
    </p:spTree>
    <p:extLst>
      <p:ext uri="{BB962C8B-B14F-4D97-AF65-F5344CB8AC3E}">
        <p14:creationId xmlns:p14="http://schemas.microsoft.com/office/powerpoint/2010/main" val="198616290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701" r:id="rId3"/>
    <p:sldLayoutId id="2147483703" r:id="rId4"/>
    <p:sldLayoutId id="2147483708" r:id="rId5"/>
  </p:sldLayoutIdLst>
  <p:hf hdr="0" ft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idx="4294967295"/>
          </p:nvPr>
        </p:nvSpPr>
        <p:spPr>
          <a:xfrm>
            <a:off x="1069520" y="1259633"/>
            <a:ext cx="7247166" cy="830424"/>
          </a:xfrm>
        </p:spPr>
        <p:txBody>
          <a:bodyPr/>
          <a:lstStyle>
            <a:lvl1pPr algn="ctr">
              <a:defRPr sz="2800" b="1">
                <a:latin typeface="+mn-lt"/>
              </a:defRPr>
            </a:lvl1pPr>
          </a:lstStyle>
          <a:p>
            <a:r>
              <a:rPr lang="en-US" dirty="0"/>
              <a:t>DFT-D3 for Solid-State Materials: A Data-Driven Perspective </a:t>
            </a:r>
            <a:r>
              <a:rPr lang="en-IN" dirty="0"/>
              <a:t>on Accuracy</a:t>
            </a:r>
          </a:p>
        </p:txBody>
      </p:sp>
      <p:sp>
        <p:nvSpPr>
          <p:cNvPr id="9" name="Text Placeholder 2"/>
          <p:cNvSpPr>
            <a:spLocks noGrp="1"/>
          </p:cNvSpPr>
          <p:nvPr>
            <p:ph type="body" idx="4294967295"/>
          </p:nvPr>
        </p:nvSpPr>
        <p:spPr>
          <a:xfrm>
            <a:off x="1069520" y="3224241"/>
            <a:ext cx="7247166" cy="423370"/>
          </a:xfrm>
        </p:spPr>
        <p:txBody>
          <a:bodyPr anchor="b"/>
          <a:lstStyle>
            <a:lvl1pPr marL="0" indent="0" algn="ctr">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Harsh Gupta 23321015</a:t>
            </a:r>
          </a:p>
        </p:txBody>
      </p:sp>
      <p:sp>
        <p:nvSpPr>
          <p:cNvPr id="14" name="Text Placeholder 2"/>
          <p:cNvSpPr>
            <a:spLocks noGrp="1"/>
          </p:cNvSpPr>
          <p:nvPr>
            <p:ph type="body" idx="4294967295"/>
          </p:nvPr>
        </p:nvSpPr>
        <p:spPr>
          <a:xfrm>
            <a:off x="1069520" y="3647611"/>
            <a:ext cx="7247166" cy="423370"/>
          </a:xfrm>
        </p:spPr>
        <p:txBody>
          <a:bodyPr anchor="b"/>
          <a:lstStyle>
            <a:lvl1pPr marL="0" indent="0" algn="ctr">
              <a:buNone/>
              <a:defRPr sz="18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CYT 102: Computational Chemistry</a:t>
            </a:r>
          </a:p>
        </p:txBody>
      </p:sp>
      <p:sp>
        <p:nvSpPr>
          <p:cNvPr id="15" name="Text Placeholder 2"/>
          <p:cNvSpPr>
            <a:spLocks noGrp="1"/>
          </p:cNvSpPr>
          <p:nvPr>
            <p:ph type="body" idx="4294967295"/>
          </p:nvPr>
        </p:nvSpPr>
        <p:spPr>
          <a:xfrm>
            <a:off x="1069520" y="2090057"/>
            <a:ext cx="7247166" cy="710814"/>
          </a:xfrm>
        </p:spPr>
        <p:txBody>
          <a:bodyPr anchor="b"/>
          <a:lstStyle>
            <a:lvl1pPr marL="0" indent="0" algn="ctr">
              <a:buNone/>
              <a:defRPr sz="2000" b="1" i="1">
                <a:solidFill>
                  <a:srgbClr val="000099"/>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Based on the comprehensive study by </a:t>
            </a:r>
            <a:br>
              <a:rPr lang="en-US" dirty="0"/>
            </a:br>
            <a:r>
              <a:rPr lang="en-IN" b="0" dirty="0"/>
              <a:t>Partha Pratim Paul, Vikas Singh Thakur, and Swastika Banerjee*</a:t>
            </a:r>
            <a:endParaRPr lang="en-US" dirty="0"/>
          </a:p>
        </p:txBody>
      </p:sp>
    </p:spTree>
    <p:extLst>
      <p:ext uri="{BB962C8B-B14F-4D97-AF65-F5344CB8AC3E}">
        <p14:creationId xmlns:p14="http://schemas.microsoft.com/office/powerpoint/2010/main" val="202677207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mc:AlternateContent xmlns:mc="http://schemas.openxmlformats.org/markup-compatibility/2006" xmlns:a14="http://schemas.microsoft.com/office/drawing/2010/main">
        <mc:Choice Requires="a14">
          <p:sp>
            <p:nvSpPr>
              <p:cNvPr id="3" name="Content Placeholder 2"/>
              <p:cNvSpPr>
                <a:spLocks noGrp="1"/>
              </p:cNvSpPr>
              <p:nvPr>
                <p:ph sz="half" idx="2"/>
              </p:nvPr>
            </p:nvSpPr>
            <p:spPr>
              <a:xfrm>
                <a:off x="180653" y="1173984"/>
                <a:ext cx="8768137" cy="5112000"/>
              </a:xfrm>
            </p:spPr>
            <p:txBody>
              <a:bodyPr wrap="square">
                <a:noAutofit/>
              </a:bodyPr>
              <a:lstStyle/>
              <a:p>
                <a:r>
                  <a:rPr lang="en-US" sz="2000" dirty="0">
                    <a:latin typeface="+mn-lt"/>
                  </a:rPr>
                  <a:t>Dispersion Forces: </a:t>
                </a:r>
                <a:r>
                  <a:rPr lang="en-IN" sz="2000" dirty="0">
                    <a:latin typeface="+mn-lt"/>
                  </a:rPr>
                  <a:t>Non-covalent van der Waals (</a:t>
                </a:r>
                <a:r>
                  <a:rPr lang="en-IN" sz="2000" dirty="0" err="1">
                    <a:latin typeface="+mn-lt"/>
                  </a:rPr>
                  <a:t>vdw</a:t>
                </a:r>
                <a:r>
                  <a:rPr lang="en-IN" sz="2000" dirty="0">
                    <a:latin typeface="+mn-lt"/>
                  </a:rPr>
                  <a:t>) interactions.</a:t>
                </a:r>
              </a:p>
              <a:p>
                <a:r>
                  <a:rPr lang="en-IN" sz="2000" dirty="0">
                    <a:latin typeface="+mn-lt"/>
                  </a:rPr>
                  <a:t>They originate </a:t>
                </a:r>
                <a:r>
                  <a:rPr lang="en-US" sz="2000" dirty="0">
                    <a:latin typeface="+mn-lt"/>
                  </a:rPr>
                  <a:t>from instantaneous dipole-induced dipole correlations.</a:t>
                </a:r>
              </a:p>
              <a:p>
                <a:r>
                  <a:rPr lang="en-US" sz="2000" dirty="0">
                    <a:latin typeface="+mn-lt"/>
                  </a:rPr>
                  <a:t>Decay as</a:t>
                </a:r>
                <a:r>
                  <a:rPr lang="en-US" sz="2000" i="1" dirty="0">
                    <a:latin typeface="+mn-lt"/>
                  </a:rPr>
                  <a:t> </a:t>
                </a:r>
                <a14:m>
                  <m:oMath xmlns:m="http://schemas.openxmlformats.org/officeDocument/2006/math">
                    <m:sSup>
                      <m:sSupPr>
                        <m:ctrlPr>
                          <a:rPr lang="en-US" sz="2000" b="1" i="1" smtClean="0">
                            <a:solidFill>
                              <a:schemeClr val="tx1"/>
                            </a:solidFill>
                            <a:latin typeface="Cambria Math" panose="02040503050406030204" pitchFamily="18" charset="0"/>
                          </a:rPr>
                        </m:ctrlPr>
                      </m:sSupPr>
                      <m:e>
                        <m:r>
                          <a:rPr lang="en-US" sz="2000" b="1" i="1" smtClean="0">
                            <a:solidFill>
                              <a:schemeClr val="tx1"/>
                            </a:solidFill>
                            <a:latin typeface="Cambria Math" panose="02040503050406030204" pitchFamily="18" charset="0"/>
                          </a:rPr>
                          <m:t>𝑹</m:t>
                        </m:r>
                      </m:e>
                      <m:sup>
                        <m:r>
                          <a:rPr lang="en-US" sz="2000" b="1" i="1" smtClean="0">
                            <a:solidFill>
                              <a:schemeClr val="tx1"/>
                            </a:solidFill>
                            <a:latin typeface="Cambria Math" panose="02040503050406030204" pitchFamily="18" charset="0"/>
                          </a:rPr>
                          <m:t>−</m:t>
                        </m:r>
                        <m:r>
                          <a:rPr lang="en-US" sz="2000" b="1" i="1" smtClean="0">
                            <a:solidFill>
                              <a:schemeClr val="tx1"/>
                            </a:solidFill>
                            <a:latin typeface="Cambria Math" panose="02040503050406030204" pitchFamily="18" charset="0"/>
                          </a:rPr>
                          <m:t>𝟔</m:t>
                        </m:r>
                      </m:sup>
                    </m:sSup>
                  </m:oMath>
                </a14:m>
                <a:r>
                  <a:rPr lang="en-US" sz="2000" dirty="0">
                    <a:latin typeface="+mn-lt"/>
                  </a:rPr>
                  <a:t> at long range, where </a:t>
                </a:r>
                <a:r>
                  <a:rPr lang="en-US" sz="2000" i="1" dirty="0">
                    <a:latin typeface="+mn-lt"/>
                  </a:rPr>
                  <a:t>R </a:t>
                </a:r>
                <a:r>
                  <a:rPr lang="en-US" sz="2000" dirty="0">
                    <a:latin typeface="+mn-lt"/>
                  </a:rPr>
                  <a:t>is the interatomic </a:t>
                </a:r>
                <a:r>
                  <a:rPr lang="en-IN" sz="2000" dirty="0">
                    <a:latin typeface="+mn-lt"/>
                  </a:rPr>
                  <a:t>distance.</a:t>
                </a:r>
              </a:p>
              <a:p>
                <a:r>
                  <a:rPr lang="en-US" sz="2000" dirty="0">
                    <a:latin typeface="+mn-lt"/>
                  </a:rPr>
                  <a:t>DFT fail to capture non-local electron correlation effects necessary </a:t>
                </a:r>
                <a:r>
                  <a:rPr lang="en-IN" sz="2000" dirty="0">
                    <a:latin typeface="+mn-lt"/>
                  </a:rPr>
                  <a:t>to describe dispersion force.</a:t>
                </a:r>
              </a:p>
              <a:p>
                <a:r>
                  <a:rPr lang="en-US" sz="2000" dirty="0">
                    <a:latin typeface="+mn-lt"/>
                  </a:rPr>
                  <a:t>To address this deficiency, a dispersion correction term,</a:t>
                </a:r>
                <a:r>
                  <a:rPr lang="en-IN" sz="2000" dirty="0"/>
                  <a:t> </a:t>
                </a:r>
                <a14:m>
                  <m:oMath xmlns:m="http://schemas.openxmlformats.org/officeDocument/2006/math">
                    <m:sSub>
                      <m:sSubPr>
                        <m:ctrlPr>
                          <a:rPr lang="en-IN" sz="2000" i="1">
                            <a:latin typeface="Cambria Math" panose="02040503050406030204" pitchFamily="18" charset="0"/>
                          </a:rPr>
                        </m:ctrlPr>
                      </m:sSubPr>
                      <m:e>
                        <m:r>
                          <a:rPr lang="en-US" sz="2000" i="1">
                            <a:latin typeface="Cambria Math" panose="02040503050406030204" pitchFamily="18" charset="0"/>
                          </a:rPr>
                          <m:t>𝐸</m:t>
                        </m:r>
                      </m:e>
                      <m:sub>
                        <m:r>
                          <a:rPr lang="en-US" sz="2000" i="1">
                            <a:latin typeface="Cambria Math" panose="02040503050406030204" pitchFamily="18" charset="0"/>
                          </a:rPr>
                          <m:t>𝑑𝑖𝑠𝑝</m:t>
                        </m:r>
                      </m:sub>
                    </m:sSub>
                  </m:oMath>
                </a14:m>
                <a:r>
                  <a:rPr lang="en-US" sz="2000" dirty="0">
                    <a:latin typeface="+mn-lt"/>
                  </a:rPr>
                  <a:t>, is externally added to </a:t>
                </a:r>
                <a:r>
                  <a:rPr lang="en-IN" sz="2000" dirty="0">
                    <a:latin typeface="+mn-lt"/>
                  </a:rPr>
                  <a:t>the base DFT energy:</a:t>
                </a:r>
                <a:br>
                  <a:rPr lang="en-IN" sz="2000" dirty="0">
                    <a:latin typeface="+mn-lt"/>
                  </a:rPr>
                </a:br>
                <a14:m>
                  <m:oMath xmlns:m="http://schemas.openxmlformats.org/officeDocument/2006/math">
                    <m:sSub>
                      <m:sSubPr>
                        <m:ctrlPr>
                          <a:rPr lang="en-IN" sz="2000" i="1" smtClean="0">
                            <a:latin typeface="Cambria Math" panose="02040503050406030204" pitchFamily="18" charset="0"/>
                          </a:rPr>
                        </m:ctrlPr>
                      </m:sSubPr>
                      <m:e>
                        <m:r>
                          <a:rPr lang="en-US" sz="2000" b="0" i="1" smtClean="0">
                            <a:latin typeface="Cambria Math" panose="02040503050406030204" pitchFamily="18" charset="0"/>
                          </a:rPr>
                          <m:t>𝐸</m:t>
                        </m:r>
                      </m:e>
                      <m:sub>
                        <m:r>
                          <a:rPr lang="en-US" sz="2000" b="0" i="1" smtClean="0">
                            <a:latin typeface="Cambria Math" panose="02040503050406030204" pitchFamily="18" charset="0"/>
                          </a:rPr>
                          <m:t>𝑇𝑜𝑡𝑎𝑙</m:t>
                        </m:r>
                      </m:sub>
                    </m:sSub>
                  </m:oMath>
                </a14:m>
                <a:r>
                  <a:rPr lang="en-IN" sz="2000" dirty="0">
                    <a:latin typeface="+mn-lt"/>
                  </a:rPr>
                  <a:t> = </a:t>
                </a:r>
                <a14:m>
                  <m:oMath xmlns:m="http://schemas.openxmlformats.org/officeDocument/2006/math">
                    <m:sSub>
                      <m:sSubPr>
                        <m:ctrlPr>
                          <a:rPr lang="en-IN" sz="2000" i="1" smtClean="0">
                            <a:latin typeface="Cambria Math" panose="02040503050406030204" pitchFamily="18" charset="0"/>
                          </a:rPr>
                        </m:ctrlPr>
                      </m:sSubPr>
                      <m:e>
                        <m:r>
                          <a:rPr lang="en-US" sz="2000" b="0" i="1" smtClean="0">
                            <a:latin typeface="Cambria Math" panose="02040503050406030204" pitchFamily="18" charset="0"/>
                          </a:rPr>
                          <m:t>𝐸</m:t>
                        </m:r>
                      </m:e>
                      <m:sub>
                        <m:r>
                          <a:rPr lang="en-US" sz="2000" b="0" i="1" smtClean="0">
                            <a:latin typeface="Cambria Math" panose="02040503050406030204" pitchFamily="18" charset="0"/>
                          </a:rPr>
                          <m:t>𝑏𝑎𝑠𝑒</m:t>
                        </m:r>
                      </m:sub>
                    </m:sSub>
                  </m:oMath>
                </a14:m>
                <a:r>
                  <a:rPr lang="en-IN" sz="2000" dirty="0">
                    <a:latin typeface="+mn-lt"/>
                  </a:rPr>
                  <a:t> + </a:t>
                </a:r>
                <a14:m>
                  <m:oMath xmlns:m="http://schemas.openxmlformats.org/officeDocument/2006/math">
                    <m:sSub>
                      <m:sSubPr>
                        <m:ctrlPr>
                          <a:rPr lang="en-IN" sz="2000" i="1" smtClean="0">
                            <a:latin typeface="Cambria Math" panose="02040503050406030204" pitchFamily="18" charset="0"/>
                          </a:rPr>
                        </m:ctrlPr>
                      </m:sSubPr>
                      <m:e>
                        <m:r>
                          <a:rPr lang="en-US" sz="2000" b="0" i="1" smtClean="0">
                            <a:latin typeface="Cambria Math" panose="02040503050406030204" pitchFamily="18" charset="0"/>
                          </a:rPr>
                          <m:t>𝐸</m:t>
                        </m:r>
                      </m:e>
                      <m:sub>
                        <m:r>
                          <a:rPr lang="en-US" sz="2000" b="0" i="1" smtClean="0">
                            <a:latin typeface="Cambria Math" panose="02040503050406030204" pitchFamily="18" charset="0"/>
                          </a:rPr>
                          <m:t>𝑑𝑖𝑠𝑝</m:t>
                        </m:r>
                      </m:sub>
                    </m:sSub>
                  </m:oMath>
                </a14:m>
                <a:endParaRPr lang="en-IN" sz="2000" dirty="0">
                  <a:latin typeface="+mn-lt"/>
                </a:endParaRPr>
              </a:p>
              <a:p>
                <a:r>
                  <a:rPr lang="en-US" sz="2000" dirty="0">
                    <a:latin typeface="+mn-lt"/>
                  </a:rPr>
                  <a:t>To compute</a:t>
                </a:r>
                <a:r>
                  <a:rPr lang="en-IN" sz="2000" dirty="0"/>
                  <a:t> </a:t>
                </a:r>
                <a14:m>
                  <m:oMath xmlns:m="http://schemas.openxmlformats.org/officeDocument/2006/math">
                    <m:sSub>
                      <m:sSubPr>
                        <m:ctrlPr>
                          <a:rPr lang="en-IN" sz="2000" i="1">
                            <a:latin typeface="Cambria Math" panose="02040503050406030204" pitchFamily="18" charset="0"/>
                          </a:rPr>
                        </m:ctrlPr>
                      </m:sSubPr>
                      <m:e>
                        <m:r>
                          <a:rPr lang="en-US" sz="2000" i="1">
                            <a:latin typeface="Cambria Math" panose="02040503050406030204" pitchFamily="18" charset="0"/>
                          </a:rPr>
                          <m:t>𝐸</m:t>
                        </m:r>
                      </m:e>
                      <m:sub>
                        <m:r>
                          <a:rPr lang="en-US" sz="2000" i="1">
                            <a:latin typeface="Cambria Math" panose="02040503050406030204" pitchFamily="18" charset="0"/>
                          </a:rPr>
                          <m:t>𝑑𝑖𝑠𝑝</m:t>
                        </m:r>
                      </m:sub>
                    </m:sSub>
                  </m:oMath>
                </a14:m>
                <a:r>
                  <a:rPr lang="en-US" sz="2000" dirty="0">
                    <a:latin typeface="+mn-lt"/>
                  </a:rPr>
                  <a:t>, broadly categorized into pairwise additive and many-body approaches.</a:t>
                </a:r>
              </a:p>
              <a:p>
                <a:r>
                  <a:rPr lang="en-US" sz="2000" dirty="0">
                    <a:latin typeface="+mn-lt"/>
                  </a:rPr>
                  <a:t>One of the most widely used pairwise dispersion correction schemes is Grimme’s DFT-D series, which comprises variants D2, D3(0), and D3 (BJ).</a:t>
                </a:r>
              </a:p>
            </p:txBody>
          </p:sp>
        </mc:Choice>
        <mc:Fallback xmlns="">
          <p:sp>
            <p:nvSpPr>
              <p:cNvPr id="3" name="Content Placeholder 2"/>
              <p:cNvSpPr>
                <a:spLocks noGrp="1" noRot="1" noChangeAspect="1" noMove="1" noResize="1" noEditPoints="1" noAdjustHandles="1" noChangeArrowheads="1" noChangeShapeType="1" noTextEdit="1"/>
              </p:cNvSpPr>
              <p:nvPr>
                <p:ph sz="half" idx="2"/>
              </p:nvPr>
            </p:nvSpPr>
            <p:spPr>
              <a:xfrm>
                <a:off x="180653" y="1173984"/>
                <a:ext cx="8768137" cy="5112000"/>
              </a:xfrm>
              <a:blipFill>
                <a:blip r:embed="rId2"/>
                <a:stretch>
                  <a:fillRect l="-626" t="-716"/>
                </a:stretch>
              </a:blipFill>
            </p:spPr>
            <p:txBody>
              <a:bodyPr/>
              <a:lstStyle/>
              <a:p>
                <a:r>
                  <a:rPr lang="en-IN">
                    <a:noFill/>
                  </a:rPr>
                  <a:t> </a:t>
                </a:r>
              </a:p>
            </p:txBody>
          </p:sp>
        </mc:Fallback>
      </mc:AlternateContent>
    </p:spTree>
    <p:extLst>
      <p:ext uri="{BB962C8B-B14F-4D97-AF65-F5344CB8AC3E}">
        <p14:creationId xmlns:p14="http://schemas.microsoft.com/office/powerpoint/2010/main" val="278976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85CED-2300-6ECE-48F8-33A3A25850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5F0253-CDE9-DC38-AFB6-F80B8723CC1E}"/>
              </a:ext>
            </a:extLst>
          </p:cNvPr>
          <p:cNvSpPr>
            <a:spLocks noGrp="1"/>
          </p:cNvSpPr>
          <p:nvPr>
            <p:ph type="title"/>
          </p:nvPr>
        </p:nvSpPr>
        <p:spPr/>
        <p:txBody>
          <a:bodyPr/>
          <a:lstStyle/>
          <a:p>
            <a:r>
              <a:rPr lang="en-IN" dirty="0"/>
              <a:t>DFT-D Methods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48F2D5-F139-6753-89B6-65CAA9F6B23D}"/>
                  </a:ext>
                </a:extLst>
              </p:cNvPr>
              <p:cNvSpPr>
                <a:spLocks noGrp="1"/>
              </p:cNvSpPr>
              <p:nvPr>
                <p:ph sz="half" idx="2"/>
              </p:nvPr>
            </p:nvSpPr>
            <p:spPr/>
            <p:txBody>
              <a:bodyPr/>
              <a:lstStyle/>
              <a:p>
                <a:pPr algn="l"/>
                <a:r>
                  <a:rPr lang="en-IN" sz="2000" dirty="0">
                    <a:latin typeface="+mn-lt"/>
                  </a:rPr>
                  <a:t>The </a:t>
                </a:r>
                <a:r>
                  <a:rPr lang="en-US" sz="2000" dirty="0">
                    <a:latin typeface="+mn-lt"/>
                  </a:rPr>
                  <a:t>dispersion correction added to the self-consistent DFT energy is:</a:t>
                </a:r>
              </a:p>
              <a:p>
                <a:pPr algn="l"/>
                <a:endParaRPr lang="en-US" sz="2000" dirty="0">
                  <a:latin typeface="+mn-lt"/>
                </a:endParaRPr>
              </a:p>
              <a:p>
                <a:pPr marL="0" indent="0" algn="l">
                  <a:buNone/>
                </a:pPr>
                <a:endParaRPr lang="en-US" sz="2000" dirty="0">
                  <a:latin typeface="+mn-lt"/>
                </a:endParaRPr>
              </a:p>
              <a:p>
                <a:pPr marL="0" indent="0" algn="l">
                  <a:buNone/>
                </a:pPr>
                <a:endParaRPr lang="en-US" sz="2000" dirty="0">
                  <a:latin typeface="+mn-lt"/>
                </a:endParaRPr>
              </a:p>
              <a:p>
                <a:r>
                  <a:rPr lang="en-US" sz="2000" dirty="0">
                    <a:latin typeface="+mn-lt"/>
                  </a:rPr>
                  <a:t>The expression for D2-dispersion correction: </a:t>
                </a:r>
              </a:p>
              <a:p>
                <a:endParaRPr lang="en-US" sz="2000" dirty="0">
                  <a:latin typeface="+mn-lt"/>
                </a:endParaRPr>
              </a:p>
              <a:p>
                <a:endParaRPr lang="en-US" sz="2000" dirty="0">
                  <a:latin typeface="+mn-lt"/>
                </a:endParaRPr>
              </a:p>
              <a:p>
                <a:endParaRPr lang="en-US" sz="2000" dirty="0">
                  <a:latin typeface="+mn-lt"/>
                </a:endParaRPr>
              </a:p>
              <a:p>
                <a:endParaRPr lang="en-US" sz="2000" dirty="0">
                  <a:latin typeface="+mn-lt"/>
                </a:endParaRPr>
              </a:p>
              <a:p>
                <a:endParaRPr lang="en-US" sz="2000" dirty="0">
                  <a:latin typeface="+mn-lt"/>
                </a:endParaRPr>
              </a:p>
              <a:p>
                <a:endParaRPr lang="en-US" sz="2000" dirty="0">
                  <a:latin typeface="+mn-lt"/>
                </a:endParaRPr>
              </a:p>
              <a:p>
                <a:endParaRPr lang="en-US" sz="2000" dirty="0">
                  <a:latin typeface="+mn-lt"/>
                </a:endParaRPr>
              </a:p>
              <a:p>
                <a:endParaRPr lang="en-US" sz="2000" dirty="0">
                  <a:latin typeface="+mn-lt"/>
                </a:endParaRPr>
              </a:p>
              <a:p>
                <a:r>
                  <a:rPr lang="en-US" sz="2000" dirty="0">
                    <a:latin typeface="+mn-lt"/>
                  </a:rPr>
                  <a:t>In D2, the dispersion coefficients </a:t>
                </a:r>
                <a14:m>
                  <m:oMath xmlns:m="http://schemas.openxmlformats.org/officeDocument/2006/math">
                    <m:sSubSup>
                      <m:sSubSupPr>
                        <m:ctrlPr>
                          <a:rPr lang="en-US" sz="2000" i="1" smtClean="0">
                            <a:latin typeface="Cambria Math" panose="02040503050406030204" pitchFamily="18" charset="0"/>
                          </a:rPr>
                        </m:ctrlPr>
                      </m:sSubSupPr>
                      <m:e>
                        <m:r>
                          <a:rPr lang="en-US" sz="2000" b="0" i="1" smtClean="0">
                            <a:latin typeface="Cambria Math" panose="02040503050406030204" pitchFamily="18" charset="0"/>
                          </a:rPr>
                          <m:t>𝐶</m:t>
                        </m:r>
                      </m:e>
                      <m:sub>
                        <m:r>
                          <a:rPr lang="en-US" sz="2000" b="0" i="1" smtClean="0">
                            <a:latin typeface="Cambria Math" panose="02040503050406030204" pitchFamily="18" charset="0"/>
                          </a:rPr>
                          <m:t>6</m:t>
                        </m:r>
                      </m:sub>
                      <m:sup>
                        <m:r>
                          <a:rPr lang="en-US" sz="2000" b="0" i="1" smtClean="0">
                            <a:latin typeface="Cambria Math" panose="02040503050406030204" pitchFamily="18" charset="0"/>
                          </a:rPr>
                          <m:t>𝐴𝐵</m:t>
                        </m:r>
                      </m:sup>
                    </m:sSubSup>
                  </m:oMath>
                </a14:m>
                <a:r>
                  <a:rPr lang="en-IN" sz="2000" dirty="0">
                    <a:latin typeface="+mn-lt"/>
                  </a:rPr>
                  <a:t>are </a:t>
                </a:r>
                <a:r>
                  <a:rPr lang="en-US" sz="2000" dirty="0">
                    <a:latin typeface="+mn-lt"/>
                  </a:rPr>
                  <a:t>assigned as fixed atomic pair values.</a:t>
                </a:r>
              </a:p>
            </p:txBody>
          </p:sp>
        </mc:Choice>
        <mc:Fallback xmlns="">
          <p:sp>
            <p:nvSpPr>
              <p:cNvPr id="3" name="Content Placeholder 2">
                <a:extLst>
                  <a:ext uri="{FF2B5EF4-FFF2-40B4-BE49-F238E27FC236}">
                    <a16:creationId xmlns:a16="http://schemas.microsoft.com/office/drawing/2014/main" id="{5048F2D5-F139-6753-89B6-65CAA9F6B23D}"/>
                  </a:ext>
                </a:extLst>
              </p:cNvPr>
              <p:cNvSpPr>
                <a:spLocks noGrp="1" noRot="1" noChangeAspect="1" noMove="1" noResize="1" noEditPoints="1" noAdjustHandles="1" noChangeArrowheads="1" noChangeShapeType="1" noTextEdit="1"/>
              </p:cNvSpPr>
              <p:nvPr>
                <p:ph sz="half" idx="2"/>
              </p:nvPr>
            </p:nvSpPr>
            <p:spPr>
              <a:blipFill>
                <a:blip r:embed="rId2"/>
                <a:stretch>
                  <a:fillRect l="-626" t="-701" b="-1051"/>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3F52C545-8D77-48B7-2DAB-D5DBA45280A3}"/>
              </a:ext>
            </a:extLst>
          </p:cNvPr>
          <p:cNvPicPr>
            <a:picLocks noChangeAspect="1"/>
          </p:cNvPicPr>
          <p:nvPr/>
        </p:nvPicPr>
        <p:blipFill>
          <a:blip r:embed="rId3"/>
          <a:stretch>
            <a:fillRect/>
          </a:stretch>
        </p:blipFill>
        <p:spPr>
          <a:xfrm>
            <a:off x="2419242" y="1563988"/>
            <a:ext cx="3423107" cy="936616"/>
          </a:xfrm>
          <a:prstGeom prst="rect">
            <a:avLst/>
          </a:prstGeom>
        </p:spPr>
      </p:pic>
      <p:pic>
        <p:nvPicPr>
          <p:cNvPr id="7" name="Picture 6">
            <a:extLst>
              <a:ext uri="{FF2B5EF4-FFF2-40B4-BE49-F238E27FC236}">
                <a16:creationId xmlns:a16="http://schemas.microsoft.com/office/drawing/2014/main" id="{0AED5DF2-40C5-CEB0-6871-1C999D37D9D5}"/>
              </a:ext>
            </a:extLst>
          </p:cNvPr>
          <p:cNvPicPr>
            <a:picLocks noChangeAspect="1"/>
          </p:cNvPicPr>
          <p:nvPr/>
        </p:nvPicPr>
        <p:blipFill>
          <a:blip r:embed="rId4"/>
          <a:stretch>
            <a:fillRect/>
          </a:stretch>
        </p:blipFill>
        <p:spPr>
          <a:xfrm>
            <a:off x="3030982" y="2984814"/>
            <a:ext cx="2884626" cy="1558773"/>
          </a:xfrm>
          <a:prstGeom prst="rect">
            <a:avLst/>
          </a:prstGeom>
        </p:spPr>
      </p:pic>
      <p:pic>
        <p:nvPicPr>
          <p:cNvPr id="9" name="Picture 8">
            <a:extLst>
              <a:ext uri="{FF2B5EF4-FFF2-40B4-BE49-F238E27FC236}">
                <a16:creationId xmlns:a16="http://schemas.microsoft.com/office/drawing/2014/main" id="{11D6BDBF-D237-BD8A-1A82-2FE9A4E4906F}"/>
              </a:ext>
            </a:extLst>
          </p:cNvPr>
          <p:cNvPicPr>
            <a:picLocks noChangeAspect="1"/>
          </p:cNvPicPr>
          <p:nvPr/>
        </p:nvPicPr>
        <p:blipFill>
          <a:blip r:embed="rId5">
            <a:duotone>
              <a:schemeClr val="accent1">
                <a:shade val="45000"/>
                <a:satMod val="135000"/>
              </a:schemeClr>
              <a:prstClr val="white"/>
            </a:duotone>
          </a:blip>
          <a:stretch>
            <a:fillRect/>
          </a:stretch>
        </p:blipFill>
        <p:spPr>
          <a:xfrm>
            <a:off x="1843047" y="4543587"/>
            <a:ext cx="5492307" cy="1140429"/>
          </a:xfrm>
          <a:prstGeom prst="rect">
            <a:avLst/>
          </a:prstGeom>
        </p:spPr>
      </p:pic>
    </p:spTree>
    <p:extLst>
      <p:ext uri="{BB962C8B-B14F-4D97-AF65-F5344CB8AC3E}">
        <p14:creationId xmlns:p14="http://schemas.microsoft.com/office/powerpoint/2010/main" val="1839923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260FA-2799-B4C6-E9D4-AB70D77C8B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CB1FCC-443D-87D6-50B6-D709A0368A1D}"/>
              </a:ext>
            </a:extLst>
          </p:cNvPr>
          <p:cNvSpPr>
            <a:spLocks noGrp="1"/>
          </p:cNvSpPr>
          <p:nvPr>
            <p:ph type="title"/>
          </p:nvPr>
        </p:nvSpPr>
        <p:spPr/>
        <p:txBody>
          <a:bodyPr/>
          <a:lstStyle/>
          <a:p>
            <a:r>
              <a:rPr lang="en-US" dirty="0">
                <a:latin typeface="+mn-lt"/>
              </a:rPr>
              <a:t>DFT-D Methods</a:t>
            </a:r>
          </a:p>
        </p:txBody>
      </p:sp>
      <p:sp>
        <p:nvSpPr>
          <p:cNvPr id="3" name="Content Placeholder 2">
            <a:extLst>
              <a:ext uri="{FF2B5EF4-FFF2-40B4-BE49-F238E27FC236}">
                <a16:creationId xmlns:a16="http://schemas.microsoft.com/office/drawing/2014/main" id="{EB88E5A0-C0F9-17B5-7001-16E73DF9E0C7}"/>
              </a:ext>
            </a:extLst>
          </p:cNvPr>
          <p:cNvSpPr>
            <a:spLocks noGrp="1"/>
          </p:cNvSpPr>
          <p:nvPr>
            <p:ph sz="half" idx="2"/>
          </p:nvPr>
        </p:nvSpPr>
        <p:spPr>
          <a:xfrm>
            <a:off x="180653" y="1173984"/>
            <a:ext cx="8768137" cy="2255016"/>
          </a:xfrm>
        </p:spPr>
        <p:txBody>
          <a:bodyPr/>
          <a:lstStyle/>
          <a:p>
            <a:r>
              <a:rPr lang="en-US" sz="1800" dirty="0">
                <a:latin typeface="+mn-lt"/>
              </a:rPr>
              <a:t>The expression for D3 has two body terms </a:t>
            </a:r>
            <a:r>
              <a:rPr lang="en-US" sz="1800" i="1" dirty="0">
                <a:latin typeface="+mn-lt"/>
              </a:rPr>
              <a:t>E</a:t>
            </a:r>
            <a:r>
              <a:rPr lang="en-US" sz="1800" dirty="0">
                <a:latin typeface="+mn-lt"/>
              </a:rPr>
              <a:t>(2) and three body terms </a:t>
            </a:r>
            <a:r>
              <a:rPr lang="en-US" sz="1800" i="1" dirty="0">
                <a:latin typeface="+mn-lt"/>
              </a:rPr>
              <a:t>E</a:t>
            </a:r>
            <a:r>
              <a:rPr lang="en-US" sz="1800" dirty="0">
                <a:latin typeface="+mn-lt"/>
              </a:rPr>
              <a:t>(3) given as:</a:t>
            </a:r>
          </a:p>
          <a:p>
            <a:endParaRPr lang="en-US" sz="1800" dirty="0">
              <a:latin typeface="+mn-lt"/>
            </a:endParaRPr>
          </a:p>
          <a:p>
            <a:endParaRPr lang="en-US" sz="1800" dirty="0">
              <a:latin typeface="+mn-lt"/>
            </a:endParaRPr>
          </a:p>
          <a:p>
            <a:endParaRPr lang="en-US" sz="1800" dirty="0">
              <a:latin typeface="+mn-lt"/>
            </a:endParaRPr>
          </a:p>
          <a:p>
            <a:endParaRPr lang="en-US" sz="1800" dirty="0">
              <a:latin typeface="+mn-lt"/>
            </a:endParaRPr>
          </a:p>
          <a:p>
            <a:pPr marL="0" indent="0">
              <a:buNone/>
            </a:pPr>
            <a:br>
              <a:rPr lang="en-US" sz="1800" dirty="0">
                <a:latin typeface="+mn-lt"/>
              </a:rPr>
            </a:br>
            <a:endParaRPr lang="en-US" sz="1800" dirty="0">
              <a:latin typeface="+mn-lt"/>
            </a:endParaRPr>
          </a:p>
        </p:txBody>
      </p:sp>
      <p:pic>
        <p:nvPicPr>
          <p:cNvPr id="5" name="Picture 4">
            <a:extLst>
              <a:ext uri="{FF2B5EF4-FFF2-40B4-BE49-F238E27FC236}">
                <a16:creationId xmlns:a16="http://schemas.microsoft.com/office/drawing/2014/main" id="{852CC70F-4FDF-CCFA-9D1C-A42E0D164F93}"/>
              </a:ext>
            </a:extLst>
          </p:cNvPr>
          <p:cNvPicPr>
            <a:picLocks noChangeAspect="1"/>
          </p:cNvPicPr>
          <p:nvPr/>
        </p:nvPicPr>
        <p:blipFill>
          <a:blip r:embed="rId2"/>
          <a:stretch>
            <a:fillRect/>
          </a:stretch>
        </p:blipFill>
        <p:spPr>
          <a:xfrm>
            <a:off x="2498029" y="1672694"/>
            <a:ext cx="4303242" cy="1863608"/>
          </a:xfrm>
          <a:prstGeom prst="rect">
            <a:avLst/>
          </a:prstGeom>
        </p:spPr>
      </p:pic>
      <p:sp>
        <p:nvSpPr>
          <p:cNvPr id="12" name="TextBox 11">
            <a:extLst>
              <a:ext uri="{FF2B5EF4-FFF2-40B4-BE49-F238E27FC236}">
                <a16:creationId xmlns:a16="http://schemas.microsoft.com/office/drawing/2014/main" id="{8CB25759-7D54-8E52-2773-692260C7AF2B}"/>
              </a:ext>
            </a:extLst>
          </p:cNvPr>
          <p:cNvSpPr txBox="1"/>
          <p:nvPr/>
        </p:nvSpPr>
        <p:spPr>
          <a:xfrm>
            <a:off x="264629" y="3600153"/>
            <a:ext cx="4208106"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n-lt"/>
              </a:rPr>
              <a:t>A widely used form of the damping function is the zero-damping variant of the D3 correction, denoted as D3(0):</a:t>
            </a:r>
          </a:p>
        </p:txBody>
      </p:sp>
      <p:sp>
        <p:nvSpPr>
          <p:cNvPr id="13" name="TextBox 12">
            <a:extLst>
              <a:ext uri="{FF2B5EF4-FFF2-40B4-BE49-F238E27FC236}">
                <a16:creationId xmlns:a16="http://schemas.microsoft.com/office/drawing/2014/main" id="{3159D841-134D-306F-2BD7-F43AF134A416}"/>
              </a:ext>
            </a:extLst>
          </p:cNvPr>
          <p:cNvSpPr txBox="1"/>
          <p:nvPr/>
        </p:nvSpPr>
        <p:spPr>
          <a:xfrm>
            <a:off x="4982547" y="3536302"/>
            <a:ext cx="3980800" cy="1477328"/>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n-lt"/>
              </a:rPr>
              <a:t>An alternative and more widely adopted damping scheme is the Becke–Johnson damping function, used in the D3(BJ) variant:</a:t>
            </a:r>
          </a:p>
          <a:p>
            <a:endParaRPr lang="en-IN" dirty="0">
              <a:latin typeface="+mn-lt"/>
            </a:endParaRPr>
          </a:p>
        </p:txBody>
      </p:sp>
      <p:pic>
        <p:nvPicPr>
          <p:cNvPr id="9" name="Picture 8">
            <a:extLst>
              <a:ext uri="{FF2B5EF4-FFF2-40B4-BE49-F238E27FC236}">
                <a16:creationId xmlns:a16="http://schemas.microsoft.com/office/drawing/2014/main" id="{A5167A36-7603-69F4-9D46-1BAFF0A78DAD}"/>
              </a:ext>
            </a:extLst>
          </p:cNvPr>
          <p:cNvPicPr>
            <a:picLocks noChangeAspect="1"/>
          </p:cNvPicPr>
          <p:nvPr/>
        </p:nvPicPr>
        <p:blipFill>
          <a:blip r:embed="rId3"/>
          <a:stretch>
            <a:fillRect/>
          </a:stretch>
        </p:blipFill>
        <p:spPr>
          <a:xfrm>
            <a:off x="5225974" y="4801938"/>
            <a:ext cx="3493946" cy="882078"/>
          </a:xfrm>
          <a:prstGeom prst="rect">
            <a:avLst/>
          </a:prstGeom>
        </p:spPr>
      </p:pic>
      <p:pic>
        <p:nvPicPr>
          <p:cNvPr id="7" name="Picture 6">
            <a:extLst>
              <a:ext uri="{FF2B5EF4-FFF2-40B4-BE49-F238E27FC236}">
                <a16:creationId xmlns:a16="http://schemas.microsoft.com/office/drawing/2014/main" id="{A63D2324-D2AA-1365-86FE-0EDCE863A30A}"/>
              </a:ext>
            </a:extLst>
          </p:cNvPr>
          <p:cNvPicPr>
            <a:picLocks noChangeAspect="1"/>
          </p:cNvPicPr>
          <p:nvPr/>
        </p:nvPicPr>
        <p:blipFill>
          <a:blip r:embed="rId4"/>
          <a:stretch>
            <a:fillRect/>
          </a:stretch>
        </p:blipFill>
        <p:spPr>
          <a:xfrm>
            <a:off x="955224" y="4801938"/>
            <a:ext cx="2746470" cy="882078"/>
          </a:xfrm>
          <a:prstGeom prst="rect">
            <a:avLst/>
          </a:prstGeom>
        </p:spPr>
      </p:pic>
    </p:spTree>
    <p:extLst>
      <p:ext uri="{BB962C8B-B14F-4D97-AF65-F5344CB8AC3E}">
        <p14:creationId xmlns:p14="http://schemas.microsoft.com/office/powerpoint/2010/main" val="1111937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E860E-A3BA-D662-66DA-9BB85B54A3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5CD3C3-7E59-ACBF-ED06-EA414C311B10}"/>
              </a:ext>
            </a:extLst>
          </p:cNvPr>
          <p:cNvSpPr>
            <a:spLocks noGrp="1"/>
          </p:cNvSpPr>
          <p:nvPr>
            <p:ph type="title"/>
          </p:nvPr>
        </p:nvSpPr>
        <p:spPr/>
        <p:txBody>
          <a:bodyPr/>
          <a:lstStyle/>
          <a:p>
            <a:r>
              <a:rPr lang="en-US" dirty="0"/>
              <a:t>DFT-D Methods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62FD4C7-25D6-87D3-31BD-2CA18755002B}"/>
                  </a:ext>
                </a:extLst>
              </p:cNvPr>
              <p:cNvSpPr>
                <a:spLocks noGrp="1"/>
              </p:cNvSpPr>
              <p:nvPr>
                <p:ph sz="half" idx="2"/>
              </p:nvPr>
            </p:nvSpPr>
            <p:spPr/>
            <p:txBody>
              <a:bodyPr/>
              <a:lstStyle/>
              <a:p>
                <a:r>
                  <a:rPr lang="en-US" sz="2000" b="0" i="0" u="none" strike="noStrike" baseline="0" dirty="0">
                    <a:latin typeface="+mn-lt"/>
                  </a:rPr>
                  <a:t>In the D3 framework, the dispersion coefficients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rPr>
                          <m:t>𝐶</m:t>
                        </m:r>
                      </m:e>
                      <m:sub>
                        <m:r>
                          <a:rPr lang="en-US" sz="2000" i="1">
                            <a:latin typeface="Cambria Math" panose="02040503050406030204" pitchFamily="18" charset="0"/>
                          </a:rPr>
                          <m:t>6</m:t>
                        </m:r>
                      </m:sub>
                      <m:sup>
                        <m:r>
                          <a:rPr lang="en-US" sz="2000" i="1">
                            <a:latin typeface="Cambria Math" panose="02040503050406030204" pitchFamily="18" charset="0"/>
                          </a:rPr>
                          <m:t>𝐴𝐵</m:t>
                        </m:r>
                      </m:sup>
                    </m:sSubSup>
                    <m:r>
                      <a:rPr lang="en-US" sz="2000" i="1">
                        <a:latin typeface="Cambria Math" panose="02040503050406030204" pitchFamily="18" charset="0"/>
                      </a:rPr>
                      <m:t> </m:t>
                    </m:r>
                  </m:oMath>
                </a14:m>
                <a:r>
                  <a:rPr lang="en-US" sz="2000" b="0" i="0" u="none" strike="noStrike" baseline="0" dirty="0">
                    <a:latin typeface="+mn-lt"/>
                  </a:rPr>
                  <a:t>depend on the local chemical environment of atoms A and B.</a:t>
                </a:r>
              </a:p>
              <a:p>
                <a:pPr algn="l"/>
                <a:r>
                  <a:rPr lang="en-US" sz="2000" b="0" i="0" u="none" strike="noStrike" baseline="0" dirty="0">
                    <a:latin typeface="+mn-lt"/>
                  </a:rPr>
                  <a:t>This environmental sensitivity is introduced through a coordination number-based interpolation scheme. </a:t>
                </a:r>
              </a:p>
              <a:p>
                <a:pPr algn="l"/>
                <a:r>
                  <a:rPr lang="en-US" sz="2000" b="0" i="0" u="none" strike="noStrike" baseline="0" dirty="0">
                    <a:latin typeface="+mn-lt"/>
                  </a:rPr>
                  <a:t>The coordination </a:t>
                </a:r>
                <a:r>
                  <a:rPr lang="en-IN" sz="2000" b="0" i="0" u="none" strike="noStrike" baseline="0" dirty="0">
                    <a:latin typeface="+mn-lt"/>
                  </a:rPr>
                  <a:t>number (CN) for atom A is:</a:t>
                </a:r>
                <a:br>
                  <a:rPr lang="en-US" sz="2000" b="0" i="0" u="none" strike="noStrike" baseline="0" dirty="0">
                    <a:latin typeface="+mn-lt"/>
                  </a:rPr>
                </a:br>
                <a:endParaRPr lang="en-US" sz="2000" b="0" i="0" u="none" strike="noStrike" baseline="0" dirty="0">
                  <a:latin typeface="+mn-lt"/>
                </a:endParaRPr>
              </a:p>
              <a:p>
                <a:pPr algn="l"/>
                <a:endParaRPr lang="en-US" sz="2000" dirty="0">
                  <a:latin typeface="+mn-lt"/>
                </a:endParaRPr>
              </a:p>
              <a:p>
                <a:pPr algn="l"/>
                <a:endParaRPr lang="en-US" sz="2000" b="0" i="0" u="none" strike="noStrike" baseline="0" dirty="0">
                  <a:latin typeface="+mn-lt"/>
                </a:endParaRPr>
              </a:p>
              <a:p>
                <a:r>
                  <a:rPr lang="en-IN" sz="1800" b="0" i="0" u="none" strike="noStrike" baseline="0" dirty="0">
                    <a:latin typeface="+mn-lt"/>
                  </a:rPr>
                  <a:t>The resulting </a:t>
                </a:r>
                <a14:m>
                  <m:oMath xmlns:m="http://schemas.openxmlformats.org/officeDocument/2006/math">
                    <m:sSubSup>
                      <m:sSubSupPr>
                        <m:ctrlPr>
                          <a:rPr lang="en-US" sz="1800" i="1">
                            <a:latin typeface="Cambria Math" panose="02040503050406030204" pitchFamily="18" charset="0"/>
                          </a:rPr>
                        </m:ctrlPr>
                      </m:sSubSupPr>
                      <m:e>
                        <m:r>
                          <a:rPr lang="en-US" sz="1800" i="1">
                            <a:latin typeface="Cambria Math" panose="02040503050406030204" pitchFamily="18" charset="0"/>
                          </a:rPr>
                          <m:t>𝐶</m:t>
                        </m:r>
                      </m:e>
                      <m:sub>
                        <m:r>
                          <a:rPr lang="en-US" sz="1800" i="1">
                            <a:latin typeface="Cambria Math" panose="02040503050406030204" pitchFamily="18" charset="0"/>
                          </a:rPr>
                          <m:t>6</m:t>
                        </m:r>
                      </m:sub>
                      <m:sup>
                        <m:r>
                          <a:rPr lang="en-US" sz="1800" i="1">
                            <a:latin typeface="Cambria Math" panose="02040503050406030204" pitchFamily="18" charset="0"/>
                          </a:rPr>
                          <m:t>𝐴𝐵</m:t>
                        </m:r>
                      </m:sup>
                    </m:sSubSup>
                    <m:r>
                      <a:rPr lang="en-US" sz="1800" i="1">
                        <a:latin typeface="Cambria Math" panose="02040503050406030204" pitchFamily="18" charset="0"/>
                      </a:rPr>
                      <m:t> </m:t>
                    </m:r>
                  </m:oMath>
                </a14:m>
                <a:r>
                  <a:rPr lang="en-US" sz="1800" b="0" i="0" u="none" strike="noStrike" baseline="0" dirty="0">
                    <a:latin typeface="+mn-lt"/>
                  </a:rPr>
                  <a:t>coefficient is then obtained via interpolation </a:t>
                </a:r>
                <a:r>
                  <a:rPr lang="en-IN" sz="1800" b="0" i="0" u="none" strike="noStrike" baseline="0" dirty="0">
                    <a:latin typeface="+mn-lt"/>
                  </a:rPr>
                  <a:t>over reference systems as:</a:t>
                </a:r>
                <a:br>
                  <a:rPr lang="en-IN" sz="1800" b="0" i="0" u="none" strike="noStrike" baseline="0" dirty="0">
                    <a:latin typeface="+mn-lt"/>
                  </a:rPr>
                </a:br>
                <a:br>
                  <a:rPr lang="en-IN" sz="1800" b="0" i="0" u="none" strike="noStrike" baseline="0" dirty="0">
                    <a:latin typeface="+mn-lt"/>
                  </a:rPr>
                </a:br>
                <a:br>
                  <a:rPr lang="en-IN" sz="1800" b="0" i="0" u="none" strike="noStrike" baseline="0" dirty="0">
                    <a:latin typeface="+mn-lt"/>
                  </a:rPr>
                </a:br>
                <a:br>
                  <a:rPr lang="en-IN" sz="1800" b="0" i="0" u="none" strike="noStrike" baseline="0" dirty="0">
                    <a:latin typeface="+mn-lt"/>
                  </a:rPr>
                </a:br>
                <a:br>
                  <a:rPr lang="en-IN" sz="1800" b="0" i="0" u="none" strike="noStrike" baseline="0" dirty="0">
                    <a:latin typeface="+mn-lt"/>
                  </a:rPr>
                </a:br>
                <a:endParaRPr lang="en-IN" sz="1800" dirty="0">
                  <a:latin typeface="+mn-lt"/>
                </a:endParaRPr>
              </a:p>
            </p:txBody>
          </p:sp>
        </mc:Choice>
        <mc:Fallback xmlns="">
          <p:sp>
            <p:nvSpPr>
              <p:cNvPr id="3" name="Content Placeholder 2">
                <a:extLst>
                  <a:ext uri="{FF2B5EF4-FFF2-40B4-BE49-F238E27FC236}">
                    <a16:creationId xmlns:a16="http://schemas.microsoft.com/office/drawing/2014/main" id="{562FD4C7-25D6-87D3-31BD-2CA18755002B}"/>
                  </a:ext>
                </a:extLst>
              </p:cNvPr>
              <p:cNvSpPr>
                <a:spLocks noGrp="1" noRot="1" noChangeAspect="1" noMove="1" noResize="1" noEditPoints="1" noAdjustHandles="1" noChangeArrowheads="1" noChangeShapeType="1" noTextEdit="1"/>
              </p:cNvSpPr>
              <p:nvPr>
                <p:ph sz="half" idx="2"/>
              </p:nvPr>
            </p:nvSpPr>
            <p:spPr>
              <a:blipFill>
                <a:blip r:embed="rId2"/>
                <a:stretch>
                  <a:fillRect l="-626" t="-467"/>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A1E2896B-A908-AC04-63D5-4B18CE0B41C6}"/>
              </a:ext>
            </a:extLst>
          </p:cNvPr>
          <p:cNvPicPr>
            <a:picLocks noChangeAspect="1"/>
          </p:cNvPicPr>
          <p:nvPr/>
        </p:nvPicPr>
        <p:blipFill>
          <a:blip r:embed="rId3"/>
          <a:stretch>
            <a:fillRect/>
          </a:stretch>
        </p:blipFill>
        <p:spPr>
          <a:xfrm>
            <a:off x="2871550" y="3000315"/>
            <a:ext cx="3400900" cy="857370"/>
          </a:xfrm>
          <a:prstGeom prst="rect">
            <a:avLst/>
          </a:prstGeom>
        </p:spPr>
      </p:pic>
      <p:pic>
        <p:nvPicPr>
          <p:cNvPr id="7" name="Picture 6">
            <a:extLst>
              <a:ext uri="{FF2B5EF4-FFF2-40B4-BE49-F238E27FC236}">
                <a16:creationId xmlns:a16="http://schemas.microsoft.com/office/drawing/2014/main" id="{7BD68F9F-18B3-B7D7-F5E9-AC615E43CB50}"/>
              </a:ext>
            </a:extLst>
          </p:cNvPr>
          <p:cNvPicPr>
            <a:picLocks noChangeAspect="1"/>
          </p:cNvPicPr>
          <p:nvPr/>
        </p:nvPicPr>
        <p:blipFill>
          <a:blip r:embed="rId4"/>
          <a:stretch>
            <a:fillRect/>
          </a:stretch>
        </p:blipFill>
        <p:spPr>
          <a:xfrm>
            <a:off x="3139136" y="4479119"/>
            <a:ext cx="3238952" cy="866896"/>
          </a:xfrm>
          <a:prstGeom prst="rect">
            <a:avLst/>
          </a:prstGeom>
        </p:spPr>
      </p:pic>
      <p:pic>
        <p:nvPicPr>
          <p:cNvPr id="9" name="Picture 8">
            <a:extLst>
              <a:ext uri="{FF2B5EF4-FFF2-40B4-BE49-F238E27FC236}">
                <a16:creationId xmlns:a16="http://schemas.microsoft.com/office/drawing/2014/main" id="{7D39D9AA-3A38-4C1D-8D03-8A6B543C89F5}"/>
              </a:ext>
            </a:extLst>
          </p:cNvPr>
          <p:cNvPicPr>
            <a:picLocks noChangeAspect="1"/>
          </p:cNvPicPr>
          <p:nvPr/>
        </p:nvPicPr>
        <p:blipFill>
          <a:blip r:embed="rId5"/>
          <a:stretch>
            <a:fillRect/>
          </a:stretch>
        </p:blipFill>
        <p:spPr>
          <a:xfrm>
            <a:off x="2871550" y="5462003"/>
            <a:ext cx="4096322" cy="819264"/>
          </a:xfrm>
          <a:prstGeom prst="rect">
            <a:avLst/>
          </a:prstGeom>
        </p:spPr>
      </p:pic>
    </p:spTree>
    <p:extLst>
      <p:ext uri="{BB962C8B-B14F-4D97-AF65-F5344CB8AC3E}">
        <p14:creationId xmlns:p14="http://schemas.microsoft.com/office/powerpoint/2010/main" val="3281565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374D2-1279-3083-4864-E435ED142A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D1962C-0B2C-4E23-8D36-D80F426FCC62}"/>
              </a:ext>
            </a:extLst>
          </p:cNvPr>
          <p:cNvSpPr>
            <a:spLocks noGrp="1"/>
          </p:cNvSpPr>
          <p:nvPr>
            <p:ph type="title"/>
          </p:nvPr>
        </p:nvSpPr>
        <p:spPr/>
        <p:txBody>
          <a:bodyPr/>
          <a:lstStyle/>
          <a:p>
            <a:r>
              <a:rPr lang="en-US" dirty="0"/>
              <a:t>Limitations of DFT-D Methods</a:t>
            </a:r>
          </a:p>
        </p:txBody>
      </p:sp>
      <p:sp>
        <p:nvSpPr>
          <p:cNvPr id="3" name="Content Placeholder 2">
            <a:extLst>
              <a:ext uri="{FF2B5EF4-FFF2-40B4-BE49-F238E27FC236}">
                <a16:creationId xmlns:a16="http://schemas.microsoft.com/office/drawing/2014/main" id="{B741BDD8-33FB-6888-7FD0-B5DAB7A7A5B3}"/>
              </a:ext>
            </a:extLst>
          </p:cNvPr>
          <p:cNvSpPr>
            <a:spLocks noGrp="1"/>
          </p:cNvSpPr>
          <p:nvPr>
            <p:ph sz="half" idx="2"/>
          </p:nvPr>
        </p:nvSpPr>
        <p:spPr/>
        <p:txBody>
          <a:bodyPr/>
          <a:lstStyle/>
          <a:p>
            <a:r>
              <a:rPr lang="en-US" sz="2000" dirty="0"/>
              <a:t>Pairwise dispersion correction schemes offer a favorable balance between computational efficiency and accuracy for a wide range of systems.</a:t>
            </a:r>
          </a:p>
          <a:p>
            <a:r>
              <a:rPr lang="en-US" sz="2000" dirty="0"/>
              <a:t>They inherently neglect many-body polarization and screening effects. </a:t>
            </a:r>
          </a:p>
          <a:p>
            <a:r>
              <a:rPr lang="en-US" sz="2000" dirty="0"/>
              <a:t>These omissions become particularly critical in extended solids and densely packed phases.</a:t>
            </a:r>
          </a:p>
        </p:txBody>
      </p:sp>
    </p:spTree>
    <p:extLst>
      <p:ext uri="{BB962C8B-B14F-4D97-AF65-F5344CB8AC3E}">
        <p14:creationId xmlns:p14="http://schemas.microsoft.com/office/powerpoint/2010/main" val="3989613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862B9-A69F-74B2-29A6-A3B6E29836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C74D19-6625-2050-E86F-32E6B2DBD585}"/>
              </a:ext>
            </a:extLst>
          </p:cNvPr>
          <p:cNvSpPr>
            <a:spLocks noGrp="1"/>
          </p:cNvSpPr>
          <p:nvPr>
            <p:ph type="title"/>
          </p:nvPr>
        </p:nvSpPr>
        <p:spPr/>
        <p:txBody>
          <a:bodyPr/>
          <a:lstStyle/>
          <a:p>
            <a:r>
              <a:rPr lang="en-US" dirty="0"/>
              <a:t>MBD Method</a:t>
            </a:r>
          </a:p>
        </p:txBody>
      </p:sp>
      <p:sp>
        <p:nvSpPr>
          <p:cNvPr id="3" name="Content Placeholder 2">
            <a:extLst>
              <a:ext uri="{FF2B5EF4-FFF2-40B4-BE49-F238E27FC236}">
                <a16:creationId xmlns:a16="http://schemas.microsoft.com/office/drawing/2014/main" id="{67E1001E-291F-FBCE-6654-BA50B3FAE116}"/>
              </a:ext>
            </a:extLst>
          </p:cNvPr>
          <p:cNvSpPr>
            <a:spLocks noGrp="1"/>
          </p:cNvSpPr>
          <p:nvPr>
            <p:ph sz="half" idx="2"/>
          </p:nvPr>
        </p:nvSpPr>
        <p:spPr/>
        <p:txBody>
          <a:bodyPr/>
          <a:lstStyle/>
          <a:p>
            <a:r>
              <a:rPr lang="en-US" sz="2000" dirty="0"/>
              <a:t>The Many-Body Dispersion (MBD) method addresses these limitations by representing atoms as quantum harmonic oscillators (QHOs) that interact via long-range dipole–dipole couplings</a:t>
            </a:r>
          </a:p>
          <a:p>
            <a:endParaRPr lang="en-US" sz="2000" dirty="0"/>
          </a:p>
          <a:p>
            <a:endParaRPr lang="en-US" sz="2000" dirty="0"/>
          </a:p>
          <a:p>
            <a:endParaRPr lang="en-US" sz="2000" dirty="0"/>
          </a:p>
          <a:p>
            <a:r>
              <a:rPr lang="en-US" sz="1800" dirty="0"/>
              <a:t>It captures collective dipolar fluctuations and the resulting long-range correlation energy, offering improved accuracy for systems such as molecular crystals and van der Waals heterostructures</a:t>
            </a:r>
          </a:p>
          <a:p>
            <a:endParaRPr lang="en-US" sz="2000" dirty="0"/>
          </a:p>
          <a:p>
            <a:endParaRPr lang="en-US" sz="2000" dirty="0"/>
          </a:p>
          <a:p>
            <a:endParaRPr lang="en-US" sz="2000" dirty="0"/>
          </a:p>
          <a:p>
            <a:endParaRPr lang="en-US" sz="2000" dirty="0"/>
          </a:p>
          <a:p>
            <a:endParaRPr lang="en-US" sz="2000" dirty="0"/>
          </a:p>
        </p:txBody>
      </p:sp>
      <p:pic>
        <p:nvPicPr>
          <p:cNvPr id="5" name="Picture 4">
            <a:extLst>
              <a:ext uri="{FF2B5EF4-FFF2-40B4-BE49-F238E27FC236}">
                <a16:creationId xmlns:a16="http://schemas.microsoft.com/office/drawing/2014/main" id="{3BA74FAC-B0DF-F085-B0B5-8378DD6E627C}"/>
              </a:ext>
            </a:extLst>
          </p:cNvPr>
          <p:cNvPicPr>
            <a:picLocks noChangeAspect="1"/>
          </p:cNvPicPr>
          <p:nvPr/>
        </p:nvPicPr>
        <p:blipFill>
          <a:blip r:embed="rId2"/>
          <a:stretch>
            <a:fillRect/>
          </a:stretch>
        </p:blipFill>
        <p:spPr>
          <a:xfrm>
            <a:off x="2847734" y="2231224"/>
            <a:ext cx="3448531" cy="790685"/>
          </a:xfrm>
          <a:prstGeom prst="rect">
            <a:avLst/>
          </a:prstGeom>
        </p:spPr>
      </p:pic>
      <p:pic>
        <p:nvPicPr>
          <p:cNvPr id="7" name="Picture 6">
            <a:extLst>
              <a:ext uri="{FF2B5EF4-FFF2-40B4-BE49-F238E27FC236}">
                <a16:creationId xmlns:a16="http://schemas.microsoft.com/office/drawing/2014/main" id="{B056CCC7-FD96-6318-C223-A90443CE62FA}"/>
              </a:ext>
            </a:extLst>
          </p:cNvPr>
          <p:cNvPicPr>
            <a:picLocks noChangeAspect="1"/>
          </p:cNvPicPr>
          <p:nvPr/>
        </p:nvPicPr>
        <p:blipFill>
          <a:blip r:embed="rId3"/>
          <a:stretch>
            <a:fillRect/>
          </a:stretch>
        </p:blipFill>
        <p:spPr>
          <a:xfrm>
            <a:off x="1343608" y="4220961"/>
            <a:ext cx="6718485" cy="2176295"/>
          </a:xfrm>
          <a:prstGeom prst="rect">
            <a:avLst/>
          </a:prstGeom>
        </p:spPr>
      </p:pic>
    </p:spTree>
    <p:extLst>
      <p:ext uri="{BB962C8B-B14F-4D97-AF65-F5344CB8AC3E}">
        <p14:creationId xmlns:p14="http://schemas.microsoft.com/office/powerpoint/2010/main" val="690215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04EE9-B0C8-8ED2-0D6F-B4656B168A6F}"/>
              </a:ext>
            </a:extLst>
          </p:cNvPr>
          <p:cNvSpPr>
            <a:spLocks noGrp="1"/>
          </p:cNvSpPr>
          <p:nvPr>
            <p:ph type="title"/>
          </p:nvPr>
        </p:nvSpPr>
        <p:spPr/>
        <p:txBody>
          <a:bodyPr/>
          <a:lstStyle/>
          <a:p>
            <a:r>
              <a:rPr lang="en-US" dirty="0"/>
              <a:t>Spurious Minima</a:t>
            </a:r>
            <a:endParaRPr lang="en-IN" dirty="0"/>
          </a:p>
        </p:txBody>
      </p:sp>
      <p:sp>
        <p:nvSpPr>
          <p:cNvPr id="3" name="Content Placeholder 2">
            <a:extLst>
              <a:ext uri="{FF2B5EF4-FFF2-40B4-BE49-F238E27FC236}">
                <a16:creationId xmlns:a16="http://schemas.microsoft.com/office/drawing/2014/main" id="{3A8AB6C9-A6C9-C191-C76A-DB56E3E4AC6B}"/>
              </a:ext>
            </a:extLst>
          </p:cNvPr>
          <p:cNvSpPr>
            <a:spLocks noGrp="1"/>
          </p:cNvSpPr>
          <p:nvPr>
            <p:ph sz="half" idx="2"/>
          </p:nvPr>
        </p:nvSpPr>
        <p:spPr>
          <a:xfrm>
            <a:off x="180653" y="1173984"/>
            <a:ext cx="8768137" cy="1317289"/>
          </a:xfrm>
        </p:spPr>
        <p:txBody>
          <a:bodyPr/>
          <a:lstStyle/>
          <a:p>
            <a:r>
              <a:rPr lang="en-IN" sz="2000" dirty="0"/>
              <a:t>A particularly problematic artifact </a:t>
            </a:r>
            <a:r>
              <a:rPr lang="en-US" sz="2000" dirty="0"/>
              <a:t>of D3-corrected functionals is the emergence of spurious features in the potential energy surface (PES).</a:t>
            </a:r>
          </a:p>
          <a:p>
            <a:r>
              <a:rPr lang="en-US" sz="2000" dirty="0"/>
              <a:t>Notably, a secondary minimum may appear near the van der Waals contact </a:t>
            </a:r>
            <a:r>
              <a:rPr lang="en-IN" sz="2000" dirty="0"/>
              <a:t>distance of interacting species</a:t>
            </a:r>
          </a:p>
          <a:p>
            <a:endParaRPr lang="en-IN" sz="2000" dirty="0"/>
          </a:p>
        </p:txBody>
      </p:sp>
      <p:pic>
        <p:nvPicPr>
          <p:cNvPr id="7" name="Picture 6">
            <a:extLst>
              <a:ext uri="{FF2B5EF4-FFF2-40B4-BE49-F238E27FC236}">
                <a16:creationId xmlns:a16="http://schemas.microsoft.com/office/drawing/2014/main" id="{B2ABFCB1-28EB-D2FE-8E3E-61900F1D3851}"/>
              </a:ext>
            </a:extLst>
          </p:cNvPr>
          <p:cNvPicPr>
            <a:picLocks noChangeAspect="1"/>
          </p:cNvPicPr>
          <p:nvPr/>
        </p:nvPicPr>
        <p:blipFill>
          <a:blip r:embed="rId2"/>
          <a:stretch>
            <a:fillRect/>
          </a:stretch>
        </p:blipFill>
        <p:spPr>
          <a:xfrm>
            <a:off x="6200364" y="2616392"/>
            <a:ext cx="2943636" cy="2353003"/>
          </a:xfrm>
          <a:prstGeom prst="rect">
            <a:avLst/>
          </a:prstGeom>
        </p:spPr>
      </p:pic>
      <p:sp>
        <p:nvSpPr>
          <p:cNvPr id="8" name="TextBox 7">
            <a:extLst>
              <a:ext uri="{FF2B5EF4-FFF2-40B4-BE49-F238E27FC236}">
                <a16:creationId xmlns:a16="http://schemas.microsoft.com/office/drawing/2014/main" id="{E5CDB98E-FF7F-8A8A-8C28-17117EE898F4}"/>
              </a:ext>
            </a:extLst>
          </p:cNvPr>
          <p:cNvSpPr txBox="1"/>
          <p:nvPr/>
        </p:nvSpPr>
        <p:spPr>
          <a:xfrm>
            <a:off x="245967" y="2616392"/>
            <a:ext cx="5589037" cy="1015663"/>
          </a:xfrm>
          <a:prstGeom prst="rect">
            <a:avLst/>
          </a:prstGeom>
          <a:noFill/>
        </p:spPr>
        <p:txBody>
          <a:bodyPr wrap="square" rtlCol="0">
            <a:spAutoFit/>
          </a:bodyPr>
          <a:lstStyle/>
          <a:p>
            <a:pPr marL="285750" indent="-285750">
              <a:buFont typeface="Arial" panose="020B0604020202020204" pitchFamily="34" charset="0"/>
              <a:buChar char="•"/>
            </a:pPr>
            <a:r>
              <a:rPr lang="en-US" sz="2000" dirty="0"/>
              <a:t>It is seen in </a:t>
            </a:r>
            <a:r>
              <a:rPr lang="en-IN" sz="2000" dirty="0"/>
              <a:t>systems with delocalized electrons or high polarizability also can say in</a:t>
            </a:r>
            <a:r>
              <a:rPr lang="en-US" sz="2000" dirty="0"/>
              <a:t> ionic and metallic systems.</a:t>
            </a:r>
          </a:p>
        </p:txBody>
      </p:sp>
    </p:spTree>
    <p:extLst>
      <p:ext uri="{BB962C8B-B14F-4D97-AF65-F5344CB8AC3E}">
        <p14:creationId xmlns:p14="http://schemas.microsoft.com/office/powerpoint/2010/main" val="4078146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5664D-AD6B-2429-7A26-0A6C56497C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C63837-D9ED-737B-DEAB-F7C72F6653D9}"/>
              </a:ext>
            </a:extLst>
          </p:cNvPr>
          <p:cNvSpPr>
            <a:spLocks noGrp="1"/>
          </p:cNvSpPr>
          <p:nvPr>
            <p:ph type="title"/>
          </p:nvPr>
        </p:nvSpPr>
        <p:spPr/>
        <p:txBody>
          <a:bodyPr/>
          <a:lstStyle/>
          <a:p>
            <a:r>
              <a:rPr lang="en-IN" dirty="0"/>
              <a:t>Artifact Minima in DFT-D3</a:t>
            </a:r>
            <a:endParaRPr lang="en-US" dirty="0"/>
          </a:p>
        </p:txBody>
      </p:sp>
      <p:pic>
        <p:nvPicPr>
          <p:cNvPr id="5" name="Content Placeholder 4">
            <a:extLst>
              <a:ext uri="{FF2B5EF4-FFF2-40B4-BE49-F238E27FC236}">
                <a16:creationId xmlns:a16="http://schemas.microsoft.com/office/drawing/2014/main" id="{63085CA1-0BF3-3D0F-1873-401DBF2128C1}"/>
              </a:ext>
            </a:extLst>
          </p:cNvPr>
          <p:cNvPicPr>
            <a:picLocks noGrp="1" noChangeAspect="1"/>
          </p:cNvPicPr>
          <p:nvPr>
            <p:ph sz="half" idx="2"/>
          </p:nvPr>
        </p:nvPicPr>
        <p:blipFill>
          <a:blip r:embed="rId2"/>
          <a:stretch>
            <a:fillRect/>
          </a:stretch>
        </p:blipFill>
        <p:spPr bwMode="auto">
          <a:xfrm>
            <a:off x="525047" y="1154090"/>
            <a:ext cx="7959042" cy="4304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78335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D7C6F-0053-EEDB-8711-725DCF1C7C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79960C-A054-3F6D-F55C-3D4C9A608C0E}"/>
              </a:ext>
            </a:extLst>
          </p:cNvPr>
          <p:cNvSpPr>
            <a:spLocks noGrp="1"/>
          </p:cNvSpPr>
          <p:nvPr>
            <p:ph type="title"/>
          </p:nvPr>
        </p:nvSpPr>
        <p:spPr/>
        <p:txBody>
          <a:bodyPr/>
          <a:lstStyle/>
          <a:p>
            <a:r>
              <a:rPr lang="en-US" sz="2800" dirty="0"/>
              <a:t>Two key features of the D3 dispersion </a:t>
            </a:r>
            <a:r>
              <a:rPr lang="en-IN" sz="2800" dirty="0"/>
              <a:t>scheme</a:t>
            </a:r>
            <a:endParaRPr lang="en-US" sz="2800" dirty="0"/>
          </a:p>
        </p:txBody>
      </p:sp>
      <p:pic>
        <p:nvPicPr>
          <p:cNvPr id="5" name="Content Placeholder 4">
            <a:extLst>
              <a:ext uri="{FF2B5EF4-FFF2-40B4-BE49-F238E27FC236}">
                <a16:creationId xmlns:a16="http://schemas.microsoft.com/office/drawing/2014/main" id="{E353E0FB-4432-043D-5F79-DF99D51A77A9}"/>
              </a:ext>
            </a:extLst>
          </p:cNvPr>
          <p:cNvPicPr>
            <a:picLocks noGrp="1" noChangeAspect="1"/>
          </p:cNvPicPr>
          <p:nvPr>
            <p:ph sz="half" idx="2"/>
          </p:nvPr>
        </p:nvPicPr>
        <p:blipFill>
          <a:blip r:embed="rId2"/>
          <a:stretch>
            <a:fillRect/>
          </a:stretch>
        </p:blipFill>
        <p:spPr bwMode="auto">
          <a:xfrm>
            <a:off x="188118" y="1037321"/>
            <a:ext cx="8767763" cy="4490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06938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58A61-B35A-6D1F-19BD-73C2A162E38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E417EFE-A7FA-3479-2ECE-204F804CCF3A}"/>
              </a:ext>
            </a:extLst>
          </p:cNvPr>
          <p:cNvPicPr>
            <a:picLocks noChangeAspect="1"/>
          </p:cNvPicPr>
          <p:nvPr/>
        </p:nvPicPr>
        <p:blipFill>
          <a:blip r:embed="rId2"/>
          <a:stretch>
            <a:fillRect/>
          </a:stretch>
        </p:blipFill>
        <p:spPr>
          <a:xfrm>
            <a:off x="147321" y="1052286"/>
            <a:ext cx="8849358" cy="4546081"/>
          </a:xfrm>
          <a:prstGeom prst="rect">
            <a:avLst/>
          </a:prstGeom>
        </p:spPr>
      </p:pic>
      <p:sp>
        <p:nvSpPr>
          <p:cNvPr id="4" name="TextBox 3">
            <a:extLst>
              <a:ext uri="{FF2B5EF4-FFF2-40B4-BE49-F238E27FC236}">
                <a16:creationId xmlns:a16="http://schemas.microsoft.com/office/drawing/2014/main" id="{D135DF1B-98C8-54BB-4F17-BBEB9CAE1061}"/>
              </a:ext>
            </a:extLst>
          </p:cNvPr>
          <p:cNvSpPr txBox="1"/>
          <p:nvPr/>
        </p:nvSpPr>
        <p:spPr>
          <a:xfrm>
            <a:off x="242596" y="5598367"/>
            <a:ext cx="8849358" cy="923330"/>
          </a:xfrm>
          <a:prstGeom prst="rect">
            <a:avLst/>
          </a:prstGeom>
          <a:noFill/>
        </p:spPr>
        <p:txBody>
          <a:bodyPr wrap="square" rtlCol="0">
            <a:spAutoFit/>
          </a:bodyPr>
          <a:lstStyle/>
          <a:p>
            <a:r>
              <a:rPr lang="en-US" dirty="0"/>
              <a:t>The magnitude and behavior of D3 errors are not governed by stoichiometry alone but are highly dependent on the local coordination environment and electronic character of</a:t>
            </a:r>
          </a:p>
          <a:p>
            <a:r>
              <a:rPr lang="en-IN" dirty="0"/>
              <a:t>the compound.</a:t>
            </a:r>
          </a:p>
        </p:txBody>
      </p:sp>
      <p:sp>
        <p:nvSpPr>
          <p:cNvPr id="5" name="TextBox 4">
            <a:extLst>
              <a:ext uri="{FF2B5EF4-FFF2-40B4-BE49-F238E27FC236}">
                <a16:creationId xmlns:a16="http://schemas.microsoft.com/office/drawing/2014/main" id="{A43639D8-0786-1856-40F4-46527F5C4AC4}"/>
              </a:ext>
            </a:extLst>
          </p:cNvPr>
          <p:cNvSpPr txBox="1"/>
          <p:nvPr/>
        </p:nvSpPr>
        <p:spPr>
          <a:xfrm>
            <a:off x="147321" y="83976"/>
            <a:ext cx="7914328" cy="954107"/>
          </a:xfrm>
          <a:prstGeom prst="rect">
            <a:avLst/>
          </a:prstGeom>
          <a:noFill/>
        </p:spPr>
        <p:txBody>
          <a:bodyPr wrap="square" rtlCol="0">
            <a:spAutoFit/>
          </a:bodyPr>
          <a:lstStyle/>
          <a:p>
            <a:r>
              <a:rPr lang="en-US" sz="2800" b="1" dirty="0">
                <a:latin typeface="+mj-lt"/>
              </a:rPr>
              <a:t>D3 dispersion correction across a broad spectrum of Li compounds</a:t>
            </a:r>
            <a:endParaRPr lang="en-IN" sz="2800" b="1" dirty="0">
              <a:latin typeface="+mj-lt"/>
            </a:endParaRPr>
          </a:p>
        </p:txBody>
      </p:sp>
    </p:spTree>
    <p:extLst>
      <p:ext uri="{BB962C8B-B14F-4D97-AF65-F5344CB8AC3E}">
        <p14:creationId xmlns:p14="http://schemas.microsoft.com/office/powerpoint/2010/main" val="42467405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1F070-56BE-8144-3A24-6AC9A95FE295}"/>
              </a:ext>
            </a:extLst>
          </p:cNvPr>
          <p:cNvSpPr>
            <a:spLocks noGrp="1"/>
          </p:cNvSpPr>
          <p:nvPr>
            <p:ph type="title"/>
          </p:nvPr>
        </p:nvSpPr>
        <p:spPr>
          <a:xfrm>
            <a:off x="180654" y="202990"/>
            <a:ext cx="7927648" cy="554587"/>
          </a:xfrm>
        </p:spPr>
        <p:txBody>
          <a:bodyPr/>
          <a:lstStyle/>
          <a:p>
            <a:r>
              <a:rPr lang="en-US" sz="2400" dirty="0"/>
              <a:t>Impact of Structural/Bonding Motifs on D3 Dispersion </a:t>
            </a:r>
            <a:r>
              <a:rPr lang="en-IN" sz="2400" dirty="0"/>
              <a:t>Errors</a:t>
            </a:r>
          </a:p>
        </p:txBody>
      </p:sp>
      <p:pic>
        <p:nvPicPr>
          <p:cNvPr id="5" name="Content Placeholder 4">
            <a:extLst>
              <a:ext uri="{FF2B5EF4-FFF2-40B4-BE49-F238E27FC236}">
                <a16:creationId xmlns:a16="http://schemas.microsoft.com/office/drawing/2014/main" id="{89444D52-99BE-4689-49B0-507296E8F88F}"/>
              </a:ext>
            </a:extLst>
          </p:cNvPr>
          <p:cNvPicPr>
            <a:picLocks noGrp="1" noChangeAspect="1"/>
          </p:cNvPicPr>
          <p:nvPr>
            <p:ph sz="half" idx="2"/>
          </p:nvPr>
        </p:nvPicPr>
        <p:blipFill>
          <a:blip r:embed="rId2"/>
          <a:stretch>
            <a:fillRect/>
          </a:stretch>
        </p:blipFill>
        <p:spPr bwMode="auto">
          <a:xfrm>
            <a:off x="3199088" y="1118766"/>
            <a:ext cx="5866622" cy="522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772915E-2183-AFC6-7C01-7E30490EF45F}"/>
                  </a:ext>
                </a:extLst>
              </p:cNvPr>
              <p:cNvSpPr txBox="1"/>
              <p:nvPr/>
            </p:nvSpPr>
            <p:spPr>
              <a:xfrm>
                <a:off x="180654" y="1118766"/>
                <a:ext cx="2907779" cy="5086072"/>
              </a:xfrm>
              <a:prstGeom prst="rect">
                <a:avLst/>
              </a:prstGeom>
              <a:noFill/>
            </p:spPr>
            <p:txBody>
              <a:bodyPr wrap="square" rtlCol="0">
                <a:spAutoFit/>
              </a:bodyPr>
              <a:lstStyle/>
              <a:p>
                <a:pPr marL="285750" indent="-285750" algn="l">
                  <a:buFont typeface="Arial" panose="020B0604020202020204" pitchFamily="34" charset="0"/>
                  <a:buChar char="•"/>
                </a:pPr>
                <a:r>
                  <a:rPr lang="en-US" sz="1600" b="0" i="0" u="none" strike="noStrike" baseline="0" dirty="0">
                    <a:latin typeface="ScalaPro-Regular"/>
                  </a:rPr>
                  <a:t>The D3 error (</a:t>
                </a:r>
                <a:r>
                  <a:rPr lang="en-US" sz="1600" b="0" i="0" u="none" strike="noStrike" baseline="0" dirty="0">
                    <a:latin typeface="STIXMath-Regular"/>
                  </a:rPr>
                  <a:t>Δ</a:t>
                </a:r>
                <a:r>
                  <a:rPr lang="en-US" sz="1600" b="0" i="1" u="none" strike="noStrike" baseline="0" dirty="0">
                    <a:latin typeface="ScalaPro-Italic"/>
                  </a:rPr>
                  <a:t>E</a:t>
                </a:r>
                <a:r>
                  <a:rPr lang="en-US" sz="1600" b="0" i="0" u="none" strike="noStrike" baseline="0" dirty="0">
                    <a:latin typeface="ScalaPro-Regular"/>
                  </a:rPr>
                  <a:t>) is significantly larger for low stoichiometry </a:t>
                </a:r>
                <a:r>
                  <a:rPr lang="en-US" sz="1600" b="0" i="0" u="none" strike="noStrike" baseline="0" dirty="0" err="1">
                    <a:latin typeface="ScalaPro-Regular"/>
                  </a:rPr>
                  <a:t>LiCx</a:t>
                </a:r>
                <a:r>
                  <a:rPr lang="en-US" sz="1600" b="0" i="0" u="none" strike="noStrike" baseline="0" dirty="0">
                    <a:latin typeface="ScalaPro-Regular"/>
                  </a:rPr>
                  <a:t> and </a:t>
                </a:r>
                <a:r>
                  <a:rPr lang="en-US" sz="1600" b="0" i="0" u="none" strike="noStrike" baseline="0" dirty="0" err="1">
                    <a:latin typeface="ScalaPro-Regular"/>
                  </a:rPr>
                  <a:t>KCx</a:t>
                </a:r>
                <a:r>
                  <a:rPr lang="en-US" sz="1600" b="0" i="0" u="none" strike="noStrike" baseline="0" dirty="0">
                    <a:latin typeface="ScalaPro-Regular"/>
                  </a:rPr>
                  <a:t> compounds (e.g., LiC0.33 and KC0.25) compared to their high-stoichiometry counterparts (e.g., LiC6 and KC60). </a:t>
                </a:r>
              </a:p>
              <a:p>
                <a:pPr marL="285750" indent="-285750">
                  <a:buFont typeface="Arial" panose="020B0604020202020204" pitchFamily="34" charset="0"/>
                  <a:buChar char="•"/>
                </a:pPr>
                <a:r>
                  <a:rPr lang="en-US" sz="1600" b="0" i="0" u="none" strike="noStrike" baseline="0" dirty="0">
                    <a:latin typeface="ScalaPro-Regular"/>
                  </a:rPr>
                  <a:t>These findings reflect pronounced environment dependence </a:t>
                </a:r>
                <a:r>
                  <a:rPr lang="en-IN" sz="1600" b="0" i="0" u="none" strike="noStrike" baseline="0" dirty="0">
                    <a:latin typeface="ScalaPro-Regular"/>
                  </a:rPr>
                  <a:t>of the </a:t>
                </a:r>
                <a14:m>
                  <m:oMath xmlns:m="http://schemas.openxmlformats.org/officeDocument/2006/math">
                    <m:sSubSup>
                      <m:sSubSupPr>
                        <m:ctrlPr>
                          <a:rPr lang="en-US" sz="1600" i="1">
                            <a:latin typeface="Cambria Math" panose="02040503050406030204" pitchFamily="18" charset="0"/>
                          </a:rPr>
                        </m:ctrlPr>
                      </m:sSubSupPr>
                      <m:e>
                        <m:r>
                          <a:rPr lang="en-US" sz="1600" i="1">
                            <a:latin typeface="Cambria Math" panose="02040503050406030204" pitchFamily="18" charset="0"/>
                          </a:rPr>
                          <m:t>𝐶</m:t>
                        </m:r>
                      </m:e>
                      <m:sub>
                        <m:r>
                          <a:rPr lang="en-US" sz="1600" i="1">
                            <a:latin typeface="Cambria Math" panose="02040503050406030204" pitchFamily="18" charset="0"/>
                          </a:rPr>
                          <m:t>6</m:t>
                        </m:r>
                      </m:sub>
                      <m:sup>
                        <m:r>
                          <a:rPr lang="en-US" sz="1600" i="1">
                            <a:latin typeface="Cambria Math" panose="02040503050406030204" pitchFamily="18" charset="0"/>
                          </a:rPr>
                          <m:t>𝐴</m:t>
                        </m:r>
                        <m:r>
                          <a:rPr lang="en-US" sz="1600" b="0" i="1" smtClean="0">
                            <a:latin typeface="Cambria Math" panose="02040503050406030204" pitchFamily="18" charset="0"/>
                          </a:rPr>
                          <m:t>𝐴</m:t>
                        </m:r>
                      </m:sup>
                    </m:sSubSup>
                  </m:oMath>
                </a14:m>
                <a:r>
                  <a:rPr lang="en-US" sz="1600" b="0" i="0" u="none" strike="noStrike" baseline="0" dirty="0">
                    <a:latin typeface="ScalaPro-Regular"/>
                  </a:rPr>
                  <a:t> coefficients in such systems. </a:t>
                </a:r>
              </a:p>
              <a:p>
                <a:pPr marL="285750" indent="-285750" algn="l">
                  <a:buFont typeface="Arial" panose="020B0604020202020204" pitchFamily="34" charset="0"/>
                  <a:buChar char="•"/>
                </a:pPr>
                <a:r>
                  <a:rPr lang="en-US" sz="1600" b="0" i="0" u="none" strike="noStrike" baseline="0" dirty="0">
                    <a:latin typeface="ScalaPro-Regular"/>
                  </a:rPr>
                  <a:t>As the carbon content increases, the error diminishes, indicating that enhanced covalence and </a:t>
                </a:r>
                <a:r>
                  <a:rPr lang="en-US" sz="1600" b="0" i="1" u="none" strike="noStrike" baseline="0" dirty="0">
                    <a:latin typeface="STIXMath-Italic"/>
                  </a:rPr>
                  <a:t>𝜋</a:t>
                </a:r>
                <a:r>
                  <a:rPr lang="en-US" sz="1600" b="0" i="0" u="none" strike="noStrike" baseline="0" dirty="0">
                    <a:latin typeface="ScalaPro-Regular"/>
                  </a:rPr>
                  <a:t>-networks mitigate the artificial short-range stabilization </a:t>
                </a:r>
                <a:r>
                  <a:rPr lang="en-IN" sz="1600" b="0" i="0" u="none" strike="noStrike" baseline="0" dirty="0">
                    <a:latin typeface="ScalaPro-Regular"/>
                  </a:rPr>
                  <a:t>introduced by D3</a:t>
                </a:r>
                <a:endParaRPr lang="en-IN" sz="1600" dirty="0"/>
              </a:p>
            </p:txBody>
          </p:sp>
        </mc:Choice>
        <mc:Fallback xmlns="">
          <p:sp>
            <p:nvSpPr>
              <p:cNvPr id="6" name="TextBox 5">
                <a:extLst>
                  <a:ext uri="{FF2B5EF4-FFF2-40B4-BE49-F238E27FC236}">
                    <a16:creationId xmlns:a16="http://schemas.microsoft.com/office/drawing/2014/main" id="{9772915E-2183-AFC6-7C01-7E30490EF45F}"/>
                  </a:ext>
                </a:extLst>
              </p:cNvPr>
              <p:cNvSpPr txBox="1">
                <a:spLocks noRot="1" noChangeAspect="1" noMove="1" noResize="1" noEditPoints="1" noAdjustHandles="1" noChangeArrowheads="1" noChangeShapeType="1" noTextEdit="1"/>
              </p:cNvSpPr>
              <p:nvPr/>
            </p:nvSpPr>
            <p:spPr>
              <a:xfrm>
                <a:off x="180654" y="1118766"/>
                <a:ext cx="2907779" cy="5086072"/>
              </a:xfrm>
              <a:prstGeom prst="rect">
                <a:avLst/>
              </a:prstGeom>
              <a:blipFill>
                <a:blip r:embed="rId3"/>
                <a:stretch>
                  <a:fillRect l="-839" t="-360" r="-2306"/>
                </a:stretch>
              </a:blipFill>
            </p:spPr>
            <p:txBody>
              <a:bodyPr/>
              <a:lstStyle/>
              <a:p>
                <a:r>
                  <a:rPr lang="en-IN">
                    <a:noFill/>
                  </a:rPr>
                  <a:t> </a:t>
                </a:r>
              </a:p>
            </p:txBody>
          </p:sp>
        </mc:Fallback>
      </mc:AlternateContent>
    </p:spTree>
    <p:extLst>
      <p:ext uri="{BB962C8B-B14F-4D97-AF65-F5344CB8AC3E}">
        <p14:creationId xmlns:p14="http://schemas.microsoft.com/office/powerpoint/2010/main" val="36377278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41420-87DC-5CF1-1D1D-B3CE223556FD}"/>
              </a:ext>
            </a:extLst>
          </p:cNvPr>
          <p:cNvSpPr>
            <a:spLocks noGrp="1"/>
          </p:cNvSpPr>
          <p:nvPr>
            <p:ph type="title"/>
          </p:nvPr>
        </p:nvSpPr>
        <p:spPr/>
        <p:txBody>
          <a:bodyPr/>
          <a:lstStyle/>
          <a:p>
            <a:r>
              <a:rPr lang="en-US" dirty="0"/>
              <a:t>D3S Method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6CEA53F-5881-4DB6-9F03-530EB2F15787}"/>
                  </a:ext>
                </a:extLst>
              </p:cNvPr>
              <p:cNvSpPr>
                <a:spLocks noGrp="1"/>
              </p:cNvSpPr>
              <p:nvPr>
                <p:ph sz="half" idx="2"/>
              </p:nvPr>
            </p:nvSpPr>
            <p:spPr/>
            <p:txBody>
              <a:bodyPr/>
              <a:lstStyle/>
              <a:p>
                <a:r>
                  <a:rPr lang="en-US" sz="1800" dirty="0"/>
                  <a:t>To address these artificial minima, Tkachenko and Head-Gordon proposed the D3S approach.</a:t>
                </a:r>
              </a:p>
              <a:p>
                <a:r>
                  <a:rPr lang="en-US" sz="1800" dirty="0"/>
                  <a:t>D3S scheme alleviates a key limitation of D3 by smoothing the coordination-number dependence of atom-pair  </a:t>
                </a:r>
                <a14:m>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6</m:t>
                        </m:r>
                      </m:sub>
                    </m:sSub>
                    <m:r>
                      <a:rPr lang="en-US" sz="1800" b="0" i="1" smtClean="0">
                        <a:latin typeface="Cambria Math" panose="02040503050406030204" pitchFamily="18" charset="0"/>
                      </a:rPr>
                      <m:t> </m:t>
                    </m:r>
                  </m:oMath>
                </a14:m>
                <a:r>
                  <a:rPr lang="en-US" sz="1800" dirty="0"/>
                  <a:t>coefficients. </a:t>
                </a:r>
              </a:p>
              <a:p>
                <a:r>
                  <a:rPr lang="en-US" sz="1800" dirty="0"/>
                  <a:t>By introducing pair-specific </a:t>
                </a:r>
                <a14:m>
                  <m:oMath xmlns:m="http://schemas.openxmlformats.org/officeDocument/2006/math">
                    <m:sSubSup>
                      <m:sSubSupPr>
                        <m:ctrlPr>
                          <a:rPr lang="en-US" sz="1800" i="1" smtClean="0">
                            <a:latin typeface="Cambria Math" panose="02040503050406030204" pitchFamily="18" charset="0"/>
                          </a:rPr>
                        </m:ctrlPr>
                      </m:sSubSupPr>
                      <m:e>
                        <m:r>
                          <a:rPr lang="en-US" sz="1800" b="0" i="1" smtClean="0">
                            <a:latin typeface="Cambria Math" panose="02040503050406030204" pitchFamily="18" charset="0"/>
                          </a:rPr>
                          <m:t>𝑘</m:t>
                        </m:r>
                      </m:e>
                      <m:sub>
                        <m:r>
                          <a:rPr lang="en-US" sz="1800" b="0" i="1" smtClean="0">
                            <a:latin typeface="Cambria Math" panose="02040503050406030204" pitchFamily="18" charset="0"/>
                          </a:rPr>
                          <m:t>3</m:t>
                        </m:r>
                      </m:sub>
                      <m:sup>
                        <m:r>
                          <a:rPr lang="en-US" sz="1800" b="0" i="1" smtClean="0">
                            <a:latin typeface="Cambria Math" panose="02040503050406030204" pitchFamily="18" charset="0"/>
                          </a:rPr>
                          <m:t>𝐴𝐵</m:t>
                        </m:r>
                      </m:sup>
                    </m:sSubSup>
                  </m:oMath>
                </a14:m>
                <a:r>
                  <a:rPr lang="en-US" sz="1800" dirty="0"/>
                  <a:t> parameters and a 𝜇2-based smoothing criterion, D3S eliminates abrupt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𝐶</m:t>
                        </m:r>
                      </m:e>
                      <m:sub>
                        <m:r>
                          <a:rPr lang="en-US" sz="1800" i="1">
                            <a:latin typeface="Cambria Math" panose="02040503050406030204" pitchFamily="18" charset="0"/>
                          </a:rPr>
                          <m:t>6</m:t>
                        </m:r>
                      </m:sub>
                    </m:sSub>
                  </m:oMath>
                </a14:m>
                <a:r>
                  <a:rPr lang="en-US" sz="1800" dirty="0"/>
                  <a:t> jumps and thereby reduces the likelihood of spurious minima in dispersion energy profiles.</a:t>
                </a:r>
                <a:endParaRPr lang="en-IN" sz="1800" dirty="0"/>
              </a:p>
            </p:txBody>
          </p:sp>
        </mc:Choice>
        <mc:Fallback xmlns="">
          <p:sp>
            <p:nvSpPr>
              <p:cNvPr id="3" name="Content Placeholder 2">
                <a:extLst>
                  <a:ext uri="{FF2B5EF4-FFF2-40B4-BE49-F238E27FC236}">
                    <a16:creationId xmlns:a16="http://schemas.microsoft.com/office/drawing/2014/main" id="{06CEA53F-5881-4DB6-9F03-530EB2F15787}"/>
                  </a:ext>
                </a:extLst>
              </p:cNvPr>
              <p:cNvSpPr>
                <a:spLocks noGrp="1" noRot="1" noChangeAspect="1" noMove="1" noResize="1" noEditPoints="1" noAdjustHandles="1" noChangeArrowheads="1" noChangeShapeType="1" noTextEdit="1"/>
              </p:cNvSpPr>
              <p:nvPr>
                <p:ph sz="half" idx="2"/>
              </p:nvPr>
            </p:nvSpPr>
            <p:spPr>
              <a:blipFill>
                <a:blip r:embed="rId2"/>
                <a:stretch>
                  <a:fillRect l="-487" t="-701"/>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DA32B538-A497-9498-9AD0-BD84235F8A61}"/>
              </a:ext>
            </a:extLst>
          </p:cNvPr>
          <p:cNvPicPr>
            <a:picLocks noChangeAspect="1"/>
          </p:cNvPicPr>
          <p:nvPr/>
        </p:nvPicPr>
        <p:blipFill>
          <a:blip r:embed="rId3"/>
          <a:stretch>
            <a:fillRect/>
          </a:stretch>
        </p:blipFill>
        <p:spPr>
          <a:xfrm>
            <a:off x="1071074" y="3785620"/>
            <a:ext cx="7001852" cy="2057687"/>
          </a:xfrm>
          <a:prstGeom prst="rect">
            <a:avLst/>
          </a:prstGeom>
        </p:spPr>
      </p:pic>
    </p:spTree>
    <p:extLst>
      <p:ext uri="{BB962C8B-B14F-4D97-AF65-F5344CB8AC3E}">
        <p14:creationId xmlns:p14="http://schemas.microsoft.com/office/powerpoint/2010/main" val="660594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590EC-718F-D960-08E5-19C13DF7EBBC}"/>
              </a:ext>
            </a:extLst>
          </p:cNvPr>
          <p:cNvSpPr>
            <a:spLocks noGrp="1"/>
          </p:cNvSpPr>
          <p:nvPr>
            <p:ph type="title"/>
          </p:nvPr>
        </p:nvSpPr>
        <p:spPr/>
        <p:txBody>
          <a:bodyPr/>
          <a:lstStyle/>
          <a:p>
            <a:r>
              <a:rPr lang="en-IN" sz="2800" dirty="0"/>
              <a:t>Comparison Across Various Li-Compounds</a:t>
            </a:r>
          </a:p>
        </p:txBody>
      </p:sp>
      <p:pic>
        <p:nvPicPr>
          <p:cNvPr id="5" name="Content Placeholder 4">
            <a:extLst>
              <a:ext uri="{FF2B5EF4-FFF2-40B4-BE49-F238E27FC236}">
                <a16:creationId xmlns:a16="http://schemas.microsoft.com/office/drawing/2014/main" id="{E456BBFA-BC5F-AC62-42F5-BF4DE4D669F0}"/>
              </a:ext>
            </a:extLst>
          </p:cNvPr>
          <p:cNvPicPr>
            <a:picLocks noGrp="1" noChangeAspect="1"/>
          </p:cNvPicPr>
          <p:nvPr>
            <p:ph sz="half" idx="2"/>
          </p:nvPr>
        </p:nvPicPr>
        <p:blipFill>
          <a:blip r:embed="rId2"/>
          <a:stretch>
            <a:fillRect/>
          </a:stretch>
        </p:blipFill>
        <p:spPr bwMode="auto">
          <a:xfrm>
            <a:off x="484554" y="1093889"/>
            <a:ext cx="8174892" cy="4215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8D12AE77-8AAE-F073-0B67-3CC715C9E37D}"/>
              </a:ext>
            </a:extLst>
          </p:cNvPr>
          <p:cNvSpPr txBox="1"/>
          <p:nvPr/>
        </p:nvSpPr>
        <p:spPr>
          <a:xfrm>
            <a:off x="354563" y="5309118"/>
            <a:ext cx="8677470" cy="1200329"/>
          </a:xfrm>
          <a:prstGeom prst="rect">
            <a:avLst/>
          </a:prstGeom>
          <a:noFill/>
        </p:spPr>
        <p:txBody>
          <a:bodyPr wrap="square" rtlCol="0">
            <a:spAutoFit/>
          </a:bodyPr>
          <a:lstStyle/>
          <a:p>
            <a:r>
              <a:rPr lang="en-US" dirty="0"/>
              <a:t>D3S constitutes a clear improvement over D3, it does not fully eliminate spurious minima in condensed phases, emphasizing the need for dispersion corrections that extend beyond pairwise smoothing to include explicit electronic and many-body effects for a robust description of ionic and metallic solids.</a:t>
            </a:r>
            <a:endParaRPr lang="en-IN" dirty="0"/>
          </a:p>
        </p:txBody>
      </p:sp>
    </p:spTree>
    <p:extLst>
      <p:ext uri="{BB962C8B-B14F-4D97-AF65-F5344CB8AC3E}">
        <p14:creationId xmlns:p14="http://schemas.microsoft.com/office/powerpoint/2010/main" val="12880674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9C358-23D6-4301-67FF-8E4368B0EC7F}"/>
              </a:ext>
            </a:extLst>
          </p:cNvPr>
          <p:cNvSpPr>
            <a:spLocks noGrp="1"/>
          </p:cNvSpPr>
          <p:nvPr>
            <p:ph type="title"/>
          </p:nvPr>
        </p:nvSpPr>
        <p:spPr/>
        <p:txBody>
          <a:bodyPr/>
          <a:lstStyle/>
          <a:p>
            <a:r>
              <a:rPr lang="en-US" dirty="0"/>
              <a:t>Published Year</a:t>
            </a:r>
            <a:endParaRPr lang="en-IN" dirty="0"/>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F4DBA8EF-CA11-8CFE-4E15-3DEA06749811}"/>
                  </a:ext>
                </a:extLst>
              </p:cNvPr>
              <p:cNvGraphicFramePr>
                <a:graphicFrameLocks noGrp="1"/>
              </p:cNvGraphicFramePr>
              <p:nvPr>
                <p:ph sz="half" idx="2"/>
                <p:extLst>
                  <p:ext uri="{D42A27DB-BD31-4B8C-83A1-F6EECF244321}">
                    <p14:modId xmlns:p14="http://schemas.microsoft.com/office/powerpoint/2010/main" val="3153199472"/>
                  </p:ext>
                </p:extLst>
              </p:nvPr>
            </p:nvGraphicFramePr>
            <p:xfrm>
              <a:off x="457200" y="1891140"/>
              <a:ext cx="8229600" cy="3566160"/>
            </p:xfrm>
            <a:graphic>
              <a:graphicData uri="http://schemas.openxmlformats.org/drawingml/2006/table">
                <a:tbl>
                  <a:tblPr/>
                  <a:tblGrid>
                    <a:gridCol w="2743200">
                      <a:extLst>
                        <a:ext uri="{9D8B030D-6E8A-4147-A177-3AD203B41FA5}">
                          <a16:colId xmlns:a16="http://schemas.microsoft.com/office/drawing/2014/main" val="1884397180"/>
                        </a:ext>
                      </a:extLst>
                    </a:gridCol>
                    <a:gridCol w="2743200">
                      <a:extLst>
                        <a:ext uri="{9D8B030D-6E8A-4147-A177-3AD203B41FA5}">
                          <a16:colId xmlns:a16="http://schemas.microsoft.com/office/drawing/2014/main" val="4162879349"/>
                        </a:ext>
                      </a:extLst>
                    </a:gridCol>
                    <a:gridCol w="2743200">
                      <a:extLst>
                        <a:ext uri="{9D8B030D-6E8A-4147-A177-3AD203B41FA5}">
                          <a16:colId xmlns:a16="http://schemas.microsoft.com/office/drawing/2014/main" val="3577608791"/>
                        </a:ext>
                      </a:extLst>
                    </a:gridCol>
                  </a:tblGrid>
                  <a:tr h="0">
                    <a:tc>
                      <a:txBody>
                        <a:bodyPr/>
                        <a:lstStyle/>
                        <a:p>
                          <a:pPr>
                            <a:buNone/>
                          </a:pPr>
                          <a:r>
                            <a:rPr lang="en-IN"/>
                            <a:t>Method</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a:t>Year</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a:t>Key idea</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953543882"/>
                      </a:ext>
                    </a:extLst>
                  </a:tr>
                  <a:tr h="0">
                    <a:tc>
                      <a:txBody>
                        <a:bodyPr/>
                        <a:lstStyle/>
                        <a:p>
                          <a:pPr>
                            <a:buNone/>
                          </a:pPr>
                          <a:r>
                            <a:rPr lang="en-IN"/>
                            <a:t>DFT-D2</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a:t>2006</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dirty="0"/>
                            <a:t>Pairwise (</a:t>
                          </a:r>
                          <a14:m>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smtClean="0">
                                      <a:latin typeface="Cambria Math" panose="02040503050406030204" pitchFamily="18" charset="0"/>
                                    </a:rPr>
                                    <m:t>6</m:t>
                                  </m:r>
                                </m:sub>
                              </m:sSub>
                              <m:r>
                                <a:rPr lang="en-US" sz="1800" b="0" i="1" smtClean="0">
                                  <a:latin typeface="Cambria Math" panose="02040503050406030204" pitchFamily="18" charset="0"/>
                                </a:rPr>
                                <m:t> </m:t>
                              </m:r>
                            </m:oMath>
                          </a14:m>
                          <a:r>
                            <a:rPr lang="en-US" dirty="0"/>
                            <a:t>/</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6</m:t>
                                  </m:r>
                                </m:sup>
                              </m:sSup>
                            </m:oMath>
                          </a14:m>
                          <a:r>
                            <a:rPr lang="en-US" dirty="0"/>
                            <a:t>), fixed parameters</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750472753"/>
                      </a:ext>
                    </a:extLst>
                  </a:tr>
                  <a:tr h="0">
                    <a:tc>
                      <a:txBody>
                        <a:bodyPr/>
                        <a:lstStyle/>
                        <a:p>
                          <a:pPr>
                            <a:buNone/>
                          </a:pPr>
                          <a:r>
                            <a:rPr lang="en-IN"/>
                            <a:t>DFT-D3(0)</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a:t>2010</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a:t>Coordination-dependent coefficients</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833248702"/>
                      </a:ext>
                    </a:extLst>
                  </a:tr>
                  <a:tr h="0">
                    <a:tc>
                      <a:txBody>
                        <a:bodyPr/>
                        <a:lstStyle/>
                        <a:p>
                          <a:pPr>
                            <a:buNone/>
                          </a:pPr>
                          <a:r>
                            <a:rPr lang="en-IN"/>
                            <a:t>DFT-D3(BJ)</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a:t>2011</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a:t>Improved damping (better short-range)</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032317549"/>
                      </a:ext>
                    </a:extLst>
                  </a:tr>
                  <a:tr h="0">
                    <a:tc>
                      <a:txBody>
                        <a:bodyPr/>
                        <a:lstStyle/>
                        <a:p>
                          <a:pPr>
                            <a:buNone/>
                          </a:pPr>
                          <a:r>
                            <a:rPr lang="en-IN"/>
                            <a:t>MBD</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a:t>2012</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a:t>Many-body vdW interactions</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231084232"/>
                      </a:ext>
                    </a:extLst>
                  </a:tr>
                  <a:tr h="0">
                    <a:tc>
                      <a:txBody>
                        <a:bodyPr/>
                        <a:lstStyle/>
                        <a:p>
                          <a:pPr>
                            <a:buNone/>
                          </a:pPr>
                          <a:r>
                            <a:rPr lang="en-IN"/>
                            <a:t>D3S</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dirty="0"/>
                            <a:t>2024</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dirty="0"/>
                            <a:t>Smooth/consistent D3 improvement</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615039200"/>
                      </a:ext>
                    </a:extLst>
                  </a:tr>
                </a:tbl>
              </a:graphicData>
            </a:graphic>
          </p:graphicFrame>
        </mc:Choice>
        <mc:Fallback xmlns="">
          <p:graphicFrame>
            <p:nvGraphicFramePr>
              <p:cNvPr id="4" name="Content Placeholder 3">
                <a:extLst>
                  <a:ext uri="{FF2B5EF4-FFF2-40B4-BE49-F238E27FC236}">
                    <a16:creationId xmlns:a16="http://schemas.microsoft.com/office/drawing/2014/main" id="{F4DBA8EF-CA11-8CFE-4E15-3DEA06749811}"/>
                  </a:ext>
                </a:extLst>
              </p:cNvPr>
              <p:cNvGraphicFramePr>
                <a:graphicFrameLocks noGrp="1"/>
              </p:cNvGraphicFramePr>
              <p:nvPr>
                <p:ph sz="half" idx="2"/>
                <p:extLst>
                  <p:ext uri="{D42A27DB-BD31-4B8C-83A1-F6EECF244321}">
                    <p14:modId xmlns:p14="http://schemas.microsoft.com/office/powerpoint/2010/main" val="3153199472"/>
                  </p:ext>
                </p:extLst>
              </p:nvPr>
            </p:nvGraphicFramePr>
            <p:xfrm>
              <a:off x="457200" y="1891140"/>
              <a:ext cx="8229600" cy="3566160"/>
            </p:xfrm>
            <a:graphic>
              <a:graphicData uri="http://schemas.openxmlformats.org/drawingml/2006/table">
                <a:tbl>
                  <a:tblPr/>
                  <a:tblGrid>
                    <a:gridCol w="2743200">
                      <a:extLst>
                        <a:ext uri="{9D8B030D-6E8A-4147-A177-3AD203B41FA5}">
                          <a16:colId xmlns:a16="http://schemas.microsoft.com/office/drawing/2014/main" val="1884397180"/>
                        </a:ext>
                      </a:extLst>
                    </a:gridCol>
                    <a:gridCol w="2743200">
                      <a:extLst>
                        <a:ext uri="{9D8B030D-6E8A-4147-A177-3AD203B41FA5}">
                          <a16:colId xmlns:a16="http://schemas.microsoft.com/office/drawing/2014/main" val="4162879349"/>
                        </a:ext>
                      </a:extLst>
                    </a:gridCol>
                    <a:gridCol w="2743200">
                      <a:extLst>
                        <a:ext uri="{9D8B030D-6E8A-4147-A177-3AD203B41FA5}">
                          <a16:colId xmlns:a16="http://schemas.microsoft.com/office/drawing/2014/main" val="3577608791"/>
                        </a:ext>
                      </a:extLst>
                    </a:gridCol>
                  </a:tblGrid>
                  <a:tr h="365760">
                    <a:tc>
                      <a:txBody>
                        <a:bodyPr/>
                        <a:lstStyle/>
                        <a:p>
                          <a:pPr>
                            <a:buNone/>
                          </a:pPr>
                          <a:r>
                            <a:rPr lang="en-IN"/>
                            <a:t>Method</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a:t>Year</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a:t>Key idea</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953543882"/>
                      </a:ext>
                    </a:extLst>
                  </a:tr>
                  <a:tr h="640080">
                    <a:tc>
                      <a:txBody>
                        <a:bodyPr/>
                        <a:lstStyle/>
                        <a:p>
                          <a:pPr>
                            <a:buNone/>
                          </a:pPr>
                          <a:r>
                            <a:rPr lang="en-IN"/>
                            <a:t>DFT-D2</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a:t>2006</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endParaRPr lang="en-US"/>
                        </a:p>
                      </a:txBody>
                      <a:tcPr anchor="ctr">
                        <a:lnL>
                          <a:noFill/>
                        </a:lnL>
                        <a:lnR>
                          <a:noFill/>
                        </a:lnR>
                        <a:lnT>
                          <a:noFill/>
                        </a:lnT>
                        <a:lnB>
                          <a:noFill/>
                        </a:lnB>
                        <a:blipFill>
                          <a:blip r:embed="rId2"/>
                          <a:stretch>
                            <a:fillRect l="-200000" t="-61905" b="-415238"/>
                          </a:stretch>
                        </a:blipFill>
                      </a:tcPr>
                    </a:tc>
                    <a:extLst>
                      <a:ext uri="{0D108BD9-81ED-4DB2-BD59-A6C34878D82A}">
                        <a16:rowId xmlns:a16="http://schemas.microsoft.com/office/drawing/2014/main" val="1750472753"/>
                      </a:ext>
                    </a:extLst>
                  </a:tr>
                  <a:tr h="640080">
                    <a:tc>
                      <a:txBody>
                        <a:bodyPr/>
                        <a:lstStyle/>
                        <a:p>
                          <a:pPr>
                            <a:buNone/>
                          </a:pPr>
                          <a:r>
                            <a:rPr lang="en-IN"/>
                            <a:t>DFT-D3(0)</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a:t>2010</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a:t>Coordination-dependent coefficients</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833248702"/>
                      </a:ext>
                    </a:extLst>
                  </a:tr>
                  <a:tr h="640080">
                    <a:tc>
                      <a:txBody>
                        <a:bodyPr/>
                        <a:lstStyle/>
                        <a:p>
                          <a:pPr>
                            <a:buNone/>
                          </a:pPr>
                          <a:r>
                            <a:rPr lang="en-IN"/>
                            <a:t>DFT-D3(BJ)</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a:t>2011</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a:t>Improved damping (better short-range)</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032317549"/>
                      </a:ext>
                    </a:extLst>
                  </a:tr>
                  <a:tr h="640080">
                    <a:tc>
                      <a:txBody>
                        <a:bodyPr/>
                        <a:lstStyle/>
                        <a:p>
                          <a:pPr>
                            <a:buNone/>
                          </a:pPr>
                          <a:r>
                            <a:rPr lang="en-IN"/>
                            <a:t>MBD</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a:t>2012</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a:t>Many-body vdW interactions</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231084232"/>
                      </a:ext>
                    </a:extLst>
                  </a:tr>
                  <a:tr h="640080">
                    <a:tc>
                      <a:txBody>
                        <a:bodyPr/>
                        <a:lstStyle/>
                        <a:p>
                          <a:pPr>
                            <a:buNone/>
                          </a:pPr>
                          <a:r>
                            <a:rPr lang="en-IN"/>
                            <a:t>D3S</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dirty="0"/>
                            <a:t>2024</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dirty="0"/>
                            <a:t>Smooth/consistent D3 improvement</a:t>
                          </a:r>
                        </a:p>
                      </a:txBody>
                      <a:tcPr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615039200"/>
                      </a:ext>
                    </a:extLst>
                  </a:tr>
                </a:tbl>
              </a:graphicData>
            </a:graphic>
          </p:graphicFrame>
        </mc:Fallback>
      </mc:AlternateContent>
    </p:spTree>
    <p:extLst>
      <p:ext uri="{BB962C8B-B14F-4D97-AF65-F5344CB8AC3E}">
        <p14:creationId xmlns:p14="http://schemas.microsoft.com/office/powerpoint/2010/main" val="7997308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EF270-0DA9-AB00-A7A1-4FB0617921C9}"/>
              </a:ext>
            </a:extLst>
          </p:cNvPr>
          <p:cNvSpPr>
            <a:spLocks noGrp="1"/>
          </p:cNvSpPr>
          <p:nvPr>
            <p:ph type="title"/>
          </p:nvPr>
        </p:nvSpPr>
        <p:spPr/>
        <p:txBody>
          <a:bodyPr/>
          <a:lstStyle/>
          <a:p>
            <a:r>
              <a:rPr lang="en-US" dirty="0"/>
              <a:t>Comparison</a:t>
            </a:r>
            <a:endParaRPr lang="en-IN" dirty="0"/>
          </a:p>
        </p:txBody>
      </p:sp>
      <p:sp>
        <p:nvSpPr>
          <p:cNvPr id="6" name="Content Placeholder 5">
            <a:extLst>
              <a:ext uri="{FF2B5EF4-FFF2-40B4-BE49-F238E27FC236}">
                <a16:creationId xmlns:a16="http://schemas.microsoft.com/office/drawing/2014/main" id="{134B4615-F075-CCF4-CAB4-C22DC2438B3B}"/>
              </a:ext>
            </a:extLst>
          </p:cNvPr>
          <p:cNvSpPr>
            <a:spLocks noGrp="1"/>
          </p:cNvSpPr>
          <p:nvPr>
            <p:ph sz="half" idx="2"/>
          </p:nvPr>
        </p:nvSpPr>
        <p:spPr/>
        <p:txBody>
          <a:bodyPr/>
          <a:lstStyle/>
          <a:p>
            <a:r>
              <a:rPr lang="en-US" sz="1800" dirty="0"/>
              <a:t>MBD remains the physical gold standard but is computationally expensive.</a:t>
            </a:r>
            <a:endParaRPr lang="en-IN" sz="1800" dirty="0"/>
          </a:p>
        </p:txBody>
      </p:sp>
      <p:pic>
        <p:nvPicPr>
          <p:cNvPr id="8" name="Picture 7">
            <a:extLst>
              <a:ext uri="{FF2B5EF4-FFF2-40B4-BE49-F238E27FC236}">
                <a16:creationId xmlns:a16="http://schemas.microsoft.com/office/drawing/2014/main" id="{1E5D5171-119E-7973-A8C4-8D9CB00093B5}"/>
              </a:ext>
            </a:extLst>
          </p:cNvPr>
          <p:cNvPicPr>
            <a:picLocks noChangeAspect="1"/>
          </p:cNvPicPr>
          <p:nvPr/>
        </p:nvPicPr>
        <p:blipFill>
          <a:blip r:embed="rId2"/>
          <a:stretch>
            <a:fillRect/>
          </a:stretch>
        </p:blipFill>
        <p:spPr>
          <a:xfrm>
            <a:off x="269742" y="2230017"/>
            <a:ext cx="8604516" cy="3256384"/>
          </a:xfrm>
          <a:prstGeom prst="rect">
            <a:avLst/>
          </a:prstGeom>
        </p:spPr>
      </p:pic>
    </p:spTree>
    <p:extLst>
      <p:ext uri="{BB962C8B-B14F-4D97-AF65-F5344CB8AC3E}">
        <p14:creationId xmlns:p14="http://schemas.microsoft.com/office/powerpoint/2010/main" val="22575135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8EBB6-A96E-A849-027B-DEFDA3B63A83}"/>
              </a:ext>
            </a:extLst>
          </p:cNvPr>
          <p:cNvSpPr>
            <a:spLocks noGrp="1"/>
          </p:cNvSpPr>
          <p:nvPr>
            <p:ph type="title"/>
          </p:nvPr>
        </p:nvSpPr>
        <p:spPr/>
        <p:txBody>
          <a:bodyPr/>
          <a:lstStyle/>
          <a:p>
            <a:r>
              <a:rPr lang="en-US" dirty="0"/>
              <a:t>Conclusion</a:t>
            </a: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D826653-85BE-EC83-C0BE-9BA9C9571E58}"/>
                  </a:ext>
                </a:extLst>
              </p:cNvPr>
              <p:cNvSpPr>
                <a:spLocks noGrp="1"/>
              </p:cNvSpPr>
              <p:nvPr>
                <p:ph sz="half" idx="2"/>
              </p:nvPr>
            </p:nvSpPr>
            <p:spPr/>
            <p:txBody>
              <a:bodyPr/>
              <a:lstStyle/>
              <a:p>
                <a:pPr algn="l"/>
                <a:r>
                  <a:rPr lang="en-US" sz="2400" b="0" i="0" u="none" strike="noStrike" baseline="0" dirty="0">
                    <a:latin typeface="ScalaPro-Regular"/>
                  </a:rPr>
                  <a:t>We examined the origin of spurious secondary minima introduced by the DFT-D3 dispersion correction in solids.</a:t>
                </a:r>
              </a:p>
              <a:p>
                <a:r>
                  <a:rPr lang="en-US" sz="2400" b="0" i="0" u="none" strike="noStrike" baseline="0" dirty="0">
                    <a:latin typeface="ScalaPro-Regular"/>
                  </a:rPr>
                  <a:t>By comparing with </a:t>
                </a:r>
                <a:r>
                  <a:rPr lang="en-US" sz="2400" b="0" i="0" u="none" strike="noStrike" baseline="0" dirty="0" err="1">
                    <a:latin typeface="ScalaPro-Regular"/>
                  </a:rPr>
                  <a:t>PBE</a:t>
                </a:r>
                <a:r>
                  <a:rPr lang="en-US" sz="2400" b="0" i="0" u="none" strike="noStrike" baseline="0" dirty="0" err="1">
                    <a:latin typeface="STIXMath-Regular"/>
                  </a:rPr>
                  <a:t>+</a:t>
                </a:r>
                <a:r>
                  <a:rPr lang="en-US" sz="2400" b="0" i="0" u="none" strike="noStrike" baseline="0" dirty="0" err="1">
                    <a:latin typeface="ScalaPro-Regular"/>
                  </a:rPr>
                  <a:t>MBD@rsSCS</a:t>
                </a:r>
                <a:r>
                  <a:rPr lang="en-US" sz="2400" b="0" i="0" u="none" strike="noStrike" baseline="0" dirty="0">
                    <a:latin typeface="ScalaPro-Regular"/>
                  </a:rPr>
                  <a:t> reference data, we identified that these artifacts stem from the sharp coordination number</a:t>
                </a:r>
                <a:r>
                  <a:rPr lang="en-US" dirty="0">
                    <a:latin typeface="ScalaPro-Regular"/>
                  </a:rPr>
                  <a:t> </a:t>
                </a:r>
                <a:r>
                  <a:rPr lang="en-US" sz="2400" b="0" i="0" u="none" strike="noStrike" baseline="0" dirty="0">
                    <a:latin typeface="ScalaPro-Regular"/>
                  </a:rPr>
                  <a:t>dependence of the</a:t>
                </a: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6</m:t>
                        </m:r>
                      </m:sub>
                    </m:sSub>
                    <m:r>
                      <a:rPr lang="en-US" i="1">
                        <a:latin typeface="Cambria Math" panose="02040503050406030204" pitchFamily="18" charset="0"/>
                      </a:rPr>
                      <m:t> </m:t>
                    </m:r>
                  </m:oMath>
                </a14:m>
                <a:r>
                  <a:rPr lang="en-US" sz="2400" b="0" i="0" u="none" strike="noStrike" baseline="0" dirty="0">
                    <a:latin typeface="ScalaPro-Regular"/>
                  </a:rPr>
                  <a:t>coefficients in the D3 model.</a:t>
                </a:r>
              </a:p>
              <a:p>
                <a:pPr algn="l"/>
                <a:r>
                  <a:rPr lang="en-US" sz="2400" b="0" i="0" u="none" strike="noStrike" baseline="0" dirty="0">
                    <a:latin typeface="ScalaPro-Regular"/>
                  </a:rPr>
                  <a:t>Furthermore, while the successor scheme D3S alleviates part of this problem, it still leads to artificial stabilization in ionic and metallic solids because it lacks explicit charge/density dependence </a:t>
                </a:r>
                <a:r>
                  <a:rPr lang="en-IN" sz="2400" b="0" i="0" u="none" strike="noStrike" baseline="0" dirty="0">
                    <a:latin typeface="ScalaPro-Regular"/>
                  </a:rPr>
                  <a:t>and full many-body screening.</a:t>
                </a:r>
              </a:p>
              <a:p>
                <a:r>
                  <a:rPr lang="en-US" dirty="0">
                    <a:latin typeface="ScalaPro-Regular"/>
                  </a:rPr>
                  <a:t>The reliability of D3 in solid-state systems is highly system-specific.</a:t>
                </a:r>
                <a:endParaRPr lang="en-IN" dirty="0">
                  <a:latin typeface="ScalaPro-Regular"/>
                </a:endParaRPr>
              </a:p>
            </p:txBody>
          </p:sp>
        </mc:Choice>
        <mc:Fallback>
          <p:sp>
            <p:nvSpPr>
              <p:cNvPr id="3" name="Content Placeholder 2">
                <a:extLst>
                  <a:ext uri="{FF2B5EF4-FFF2-40B4-BE49-F238E27FC236}">
                    <a16:creationId xmlns:a16="http://schemas.microsoft.com/office/drawing/2014/main" id="{7D826653-85BE-EC83-C0BE-9BA9C9571E58}"/>
                  </a:ext>
                </a:extLst>
              </p:cNvPr>
              <p:cNvSpPr>
                <a:spLocks noGrp="1" noRot="1" noChangeAspect="1" noMove="1" noResize="1" noEditPoints="1" noAdjustHandles="1" noChangeArrowheads="1" noChangeShapeType="1" noTextEdit="1"/>
              </p:cNvSpPr>
              <p:nvPr>
                <p:ph sz="half" idx="2"/>
              </p:nvPr>
            </p:nvSpPr>
            <p:spPr>
              <a:blipFill>
                <a:blip r:embed="rId2"/>
                <a:stretch>
                  <a:fillRect l="-974" t="-935" r="-1460"/>
                </a:stretch>
              </a:blipFill>
            </p:spPr>
            <p:txBody>
              <a:bodyPr/>
              <a:lstStyle/>
              <a:p>
                <a:r>
                  <a:rPr lang="en-IN">
                    <a:noFill/>
                  </a:rPr>
                  <a:t> </a:t>
                </a:r>
              </a:p>
            </p:txBody>
          </p:sp>
        </mc:Fallback>
      </mc:AlternateContent>
    </p:spTree>
    <p:extLst>
      <p:ext uri="{BB962C8B-B14F-4D97-AF65-F5344CB8AC3E}">
        <p14:creationId xmlns:p14="http://schemas.microsoft.com/office/powerpoint/2010/main" val="32867412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Tree>
    <p:extLst>
      <p:ext uri="{BB962C8B-B14F-4D97-AF65-F5344CB8AC3E}">
        <p14:creationId xmlns:p14="http://schemas.microsoft.com/office/powerpoint/2010/main" val="4167977639"/>
      </p:ext>
    </p:extLst>
  </p:cSld>
  <p:clrMapOvr>
    <a:masterClrMapping/>
  </p:clrMapOvr>
</p:sld>
</file>

<file path=ppt/theme/theme1.xml><?xml version="1.0" encoding="utf-8"?>
<a:theme xmlns:a="http://schemas.openxmlformats.org/drawingml/2006/main" name="IITR_PPT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IITR_template_sudiproy.pptx" id="{E7BE3218-A97E-4E6F-BE9F-92D6192B2CD5}" vid="{3EDE8FBA-E8F1-4B0B-AEA8-7DC234A91AE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IITR_template_sudiproy</Template>
  <TotalTime>333</TotalTime>
  <Words>896</Words>
  <Application>Microsoft Office PowerPoint</Application>
  <PresentationFormat>On-screen Show (4:3)</PresentationFormat>
  <Paragraphs>101</Paragraphs>
  <Slides>18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Arial</vt:lpstr>
      <vt:lpstr>Calibri</vt:lpstr>
      <vt:lpstr>Cambria Math</vt:lpstr>
      <vt:lpstr>Franklin Gothic Demi</vt:lpstr>
      <vt:lpstr>ScalaPro-Italic</vt:lpstr>
      <vt:lpstr>ScalaPro-Regular</vt:lpstr>
      <vt:lpstr>STIXMath-Italic</vt:lpstr>
      <vt:lpstr>STIXMath-Regular</vt:lpstr>
      <vt:lpstr>IITR_PPT_Template</vt:lpstr>
      <vt:lpstr>DFT-D3 for Solid-State Materials: A Data-Driven Perspective on Accuracy</vt:lpstr>
      <vt:lpstr>Introduction</vt:lpstr>
      <vt:lpstr>DFT-D Methods</vt:lpstr>
      <vt:lpstr>DFT-D Methods</vt:lpstr>
      <vt:lpstr>DFT-D Methods</vt:lpstr>
      <vt:lpstr>Limitations of DFT-D Methods</vt:lpstr>
      <vt:lpstr>MBD Method</vt:lpstr>
      <vt:lpstr>Spurious Minima</vt:lpstr>
      <vt:lpstr>Artifact Minima in DFT-D3</vt:lpstr>
      <vt:lpstr>Two key features of the D3 dispersion scheme</vt:lpstr>
      <vt:lpstr>PowerPoint Presentation</vt:lpstr>
      <vt:lpstr>Impact of Structural/Bonding Motifs on D3 Dispersion Errors</vt:lpstr>
      <vt:lpstr>D3S Method</vt:lpstr>
      <vt:lpstr>Comparison Across Various Li-Compounds</vt:lpstr>
      <vt:lpstr>Published Year</vt:lpstr>
      <vt:lpstr>Comparison</vt:lpstr>
      <vt:lpstr>Conclusion</vt:lpstr>
      <vt:lpstr>PowerPoint Presentation</vt:lpstr>
    </vt:vector>
  </TitlesOfParts>
  <Manager>Dr. Sudip Roy</Manager>
  <Company>IIT Roorkee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IITR PPT Template</dc:subject>
  <dc:creator>Dr. Sudip Roy</dc:creator>
  <cp:lastModifiedBy>Harsh Gupta</cp:lastModifiedBy>
  <cp:revision>62</cp:revision>
  <dcterms:created xsi:type="dcterms:W3CDTF">2015-07-18T13:17:54Z</dcterms:created>
  <dcterms:modified xsi:type="dcterms:W3CDTF">2026-04-18T06:34:48Z</dcterms:modified>
  <cp:version>v1</cp:version>
</cp:coreProperties>
</file>