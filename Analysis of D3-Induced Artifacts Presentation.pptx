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7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59" r:id="rId6"/>
    <p:sldId id="266" r:id="rId7"/>
    <p:sldId id="260" r:id="rId8"/>
    <p:sldId id="261" r:id="rId9"/>
    <p:sldId id="268" r:id="rId10"/>
    <p:sldId id="262" r:id="rId11"/>
    <p:sldId id="263" r:id="rId12"/>
    <p:sldId id="264" r:id="rId13"/>
    <p:sldId id="265" r:id="rId14"/>
  </p:sldIdLst>
  <p:sldSz cx="14630400" cy="8229600"/>
  <p:notesSz cx="8229600" cy="14630400"/>
  <p:embeddedFontLst>
    <p:embeddedFont>
      <p:font typeface="Franklin Gothic Demi" panose="020B0703020102020204" pitchFamily="34" charset="0"/>
      <p:regular r:id="rId16"/>
      <p:italic r:id="rId17"/>
    </p:embeddedFont>
    <p:embeddedFont>
      <p:font typeface="Inter" panose="020B0604020202020204" charset="0"/>
      <p:regular r:id="rId18"/>
    </p:embeddedFont>
    <p:embeddedFont>
      <p:font typeface="Manrope" panose="020B0604020202020204" charset="0"/>
      <p:regular r:id="rId19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23T16:59:43.486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11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0"/>
            <a:ext cx="14644046" cy="883524"/>
          </a:xfrm>
          <a:prstGeom prst="rect">
            <a:avLst/>
          </a:prstGeom>
          <a:gradFill>
            <a:gsLst>
              <a:gs pos="1000">
                <a:srgbClr val="166018"/>
              </a:gs>
              <a:gs pos="52000">
                <a:srgbClr val="00B0F0"/>
              </a:gs>
              <a:gs pos="100000">
                <a:schemeClr val="tx2">
                  <a:lumMod val="75000"/>
                </a:schemeClr>
              </a:gs>
              <a:gs pos="100000">
                <a:srgbClr val="4D0808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  <a:latin typeface="Franklin Gothic Demi" pitchFamily="34" charset="0"/>
              </a:rPr>
              <a:t>INDIAN INSTITUTE OF TECHNOLOGY ROORKEE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4632" y="-1537"/>
            <a:ext cx="1209325" cy="878524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007380"/>
            <a:ext cx="14613963" cy="2222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556672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7" y="-1776"/>
            <a:ext cx="1567544" cy="1153632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0" y="1188720"/>
            <a:ext cx="146304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8107680"/>
            <a:ext cx="146304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2716" y="7736750"/>
            <a:ext cx="2667000" cy="238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lum bright="3000"/>
          </a:blip>
          <a:stretch>
            <a:fillRect/>
          </a:stretch>
        </p:blipFill>
        <p:spPr>
          <a:xfrm>
            <a:off x="2996915" y="2541855"/>
            <a:ext cx="8514650" cy="4212691"/>
          </a:xfrm>
          <a:prstGeom prst="rect">
            <a:avLst/>
          </a:prstGeom>
        </p:spPr>
      </p:pic>
      <p:sp>
        <p:nvSpPr>
          <p:cNvPr id="17" name="Slide Number Placeholder 5"/>
          <p:cNvSpPr txBox="1">
            <a:spLocks/>
          </p:cNvSpPr>
          <p:nvPr/>
        </p:nvSpPr>
        <p:spPr>
          <a:xfrm>
            <a:off x="13411202" y="7929153"/>
            <a:ext cx="1219200" cy="2385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680" smtClean="0"/>
              <a:pPr algn="r">
                <a:defRPr/>
              </a:pPr>
              <a:t>‹#›</a:t>
            </a:fld>
            <a:endParaRPr lang="en-US" altLang="en-US" sz="1680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89046" y="243589"/>
            <a:ext cx="11267328" cy="665504"/>
          </a:xfrm>
        </p:spPr>
        <p:txBody>
          <a:bodyPr/>
          <a:lstStyle>
            <a:lvl1pPr algn="l">
              <a:defRPr sz="3840" b="1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289046" y="1408781"/>
            <a:ext cx="14029019" cy="6267926"/>
          </a:xfrm>
        </p:spPr>
        <p:txBody>
          <a:bodyPr/>
          <a:lstStyle>
            <a:lvl1pPr>
              <a:defRPr sz="288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16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92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92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67959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2996915" y="2541855"/>
            <a:ext cx="8514650" cy="42126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046" y="243589"/>
            <a:ext cx="11267328" cy="665504"/>
          </a:xfrm>
        </p:spPr>
        <p:txBody>
          <a:bodyPr/>
          <a:lstStyle>
            <a:lvl1pPr algn="l">
              <a:defRPr sz="3840" b="1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047" y="1358896"/>
            <a:ext cx="6861766" cy="576756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9047" y="1935652"/>
            <a:ext cx="6861766" cy="5741056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2041" y="1350200"/>
            <a:ext cx="6787394" cy="585452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1" y="1935652"/>
            <a:ext cx="6787394" cy="5741056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857" y="-1776"/>
            <a:ext cx="1567544" cy="1153632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0" y="1188720"/>
            <a:ext cx="146304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0" y="8107680"/>
            <a:ext cx="146304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2716" y="7736750"/>
            <a:ext cx="2667000" cy="238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lide Number Placeholder 5"/>
          <p:cNvSpPr txBox="1">
            <a:spLocks/>
          </p:cNvSpPr>
          <p:nvPr/>
        </p:nvSpPr>
        <p:spPr>
          <a:xfrm>
            <a:off x="13411202" y="7929153"/>
            <a:ext cx="1219200" cy="2385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680" smtClean="0"/>
              <a:pPr algn="r">
                <a:defRPr/>
              </a:pPr>
              <a:t>‹#›</a:t>
            </a:fld>
            <a:endParaRPr lang="en-US" altLang="en-US" sz="1680" dirty="0"/>
          </a:p>
        </p:txBody>
      </p:sp>
    </p:spTree>
    <p:extLst>
      <p:ext uri="{BB962C8B-B14F-4D97-AF65-F5344CB8AC3E}">
        <p14:creationId xmlns:p14="http://schemas.microsoft.com/office/powerpoint/2010/main" val="98614420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2996915" y="2541855"/>
            <a:ext cx="8514650" cy="42126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857" y="-1776"/>
            <a:ext cx="1567544" cy="1153632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0" y="1188720"/>
            <a:ext cx="146304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8107680"/>
            <a:ext cx="146304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2716" y="7736750"/>
            <a:ext cx="2667000" cy="238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5"/>
          <p:cNvSpPr txBox="1">
            <a:spLocks/>
          </p:cNvSpPr>
          <p:nvPr/>
        </p:nvSpPr>
        <p:spPr>
          <a:xfrm>
            <a:off x="13411202" y="7929153"/>
            <a:ext cx="1219200" cy="2385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680" smtClean="0"/>
              <a:pPr algn="r">
                <a:defRPr/>
              </a:pPr>
              <a:t>‹#›</a:t>
            </a:fld>
            <a:endParaRPr lang="en-US" altLang="en-US" sz="1680" dirty="0"/>
          </a:p>
        </p:txBody>
      </p:sp>
    </p:spTree>
    <p:extLst>
      <p:ext uri="{BB962C8B-B14F-4D97-AF65-F5344CB8AC3E}">
        <p14:creationId xmlns:p14="http://schemas.microsoft.com/office/powerpoint/2010/main" val="10373250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/>
        </p:nvSpPr>
        <p:spPr>
          <a:xfrm>
            <a:off x="13411202" y="7929153"/>
            <a:ext cx="1219200" cy="2385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680" smtClean="0"/>
              <a:pPr algn="r">
                <a:defRPr/>
              </a:pPr>
              <a:t>‹#›</a:t>
            </a:fld>
            <a:endParaRPr lang="en-US" altLang="en-US" sz="1680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5382262" y="3566161"/>
            <a:ext cx="3924299" cy="853440"/>
          </a:xfrm>
        </p:spPr>
        <p:txBody>
          <a:bodyPr anchor="t"/>
          <a:lstStyle>
            <a:lvl1pPr algn="ctr">
              <a:defRPr sz="4320" b="1" cap="none"/>
            </a:lvl1pPr>
          </a:lstStyle>
          <a:p>
            <a:r>
              <a:rPr lang="en-US" dirty="0"/>
              <a:t>Thanks…</a:t>
            </a:r>
            <a:endParaRPr lang="en-IN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5752839" y="4343442"/>
            <a:ext cx="3215285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96135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2489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731520" y="329566"/>
            <a:ext cx="1316736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31520" y="1920240"/>
            <a:ext cx="13167360" cy="5431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44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247F8E96-40AA-459E-91AA-55A5F97CAAA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44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85120" y="7627621"/>
            <a:ext cx="3413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44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D4CB9294-F9FF-4346-BE48-1C04129C722B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750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</a:defRPr>
      </a:lvl5pPr>
      <a:lvl6pPr marL="548640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</a:defRPr>
      </a:lvl6pPr>
      <a:lvl7pPr marL="1097280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</a:defRPr>
      </a:lvl7pPr>
      <a:lvl8pPr marL="1645920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</a:defRPr>
      </a:lvl8pPr>
      <a:lvl9pPr marL="2194560" algn="ctr" rtl="0" eaLnBrk="1" fontAlgn="base" hangingPunct="1">
        <a:spcBef>
          <a:spcPct val="0"/>
        </a:spcBef>
        <a:spcAft>
          <a:spcPct val="0"/>
        </a:spcAft>
        <a:defRPr sz="5280">
          <a:solidFill>
            <a:schemeClr val="tx1"/>
          </a:solidFill>
          <a:latin typeface="Calibri" pitchFamily="34" charset="0"/>
        </a:defRPr>
      </a:lvl9pPr>
    </p:titleStyle>
    <p:bodyStyle>
      <a:lvl1pPr marL="411480" indent="-41148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427356" y="1189144"/>
            <a:ext cx="1180914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800" dirty="0"/>
              <a:t>Analysis of D3-Induced Artifacts</a:t>
            </a:r>
            <a:endParaRPr lang="en-US" sz="4450" b="1" dirty="0"/>
          </a:p>
        </p:txBody>
      </p:sp>
      <p:sp>
        <p:nvSpPr>
          <p:cNvPr id="4" name="Text 1"/>
          <p:cNvSpPr/>
          <p:nvPr/>
        </p:nvSpPr>
        <p:spPr>
          <a:xfrm>
            <a:off x="3536989" y="2441288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Binary and ternary compound screening across d-block and s-block elements - 1,574 total dip rows analyzed across 52 binary and 168 ternary chemical systems.</a:t>
            </a:r>
            <a:endParaRPr lang="en-US" sz="175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005B05D-18CE-8825-A9A9-A31BA65EC7D4}"/>
              </a:ext>
            </a:extLst>
          </p:cNvPr>
          <p:cNvSpPr txBox="1">
            <a:spLocks/>
          </p:cNvSpPr>
          <p:nvPr/>
        </p:nvSpPr>
        <p:spPr>
          <a:xfrm>
            <a:off x="3691616" y="3841528"/>
            <a:ext cx="7247166" cy="707953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CYT 102: Computational Chemistry</a:t>
            </a:r>
          </a:p>
          <a:p>
            <a:r>
              <a:rPr lang="en-US"/>
              <a:t>Prof. Swastika Banerjee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6C86A65-81F3-12CD-324E-E68D9537273E}"/>
              </a:ext>
            </a:extLst>
          </p:cNvPr>
          <p:cNvSpPr txBox="1">
            <a:spLocks/>
          </p:cNvSpPr>
          <p:nvPr/>
        </p:nvSpPr>
        <p:spPr>
          <a:xfrm>
            <a:off x="3691617" y="4861013"/>
            <a:ext cx="7247166" cy="1304069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Harsh Gupta 23321015</a:t>
            </a:r>
          </a:p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year BSMS Chemical Sciences</a:t>
            </a:r>
          </a:p>
          <a:p>
            <a:r>
              <a:rPr lang="en-US" dirty="0"/>
              <a:t>Department of Chemistry</a:t>
            </a:r>
          </a:p>
          <a:p>
            <a:r>
              <a:rPr lang="en-US" dirty="0"/>
              <a:t>IIT Roorkee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645676"/>
            <a:ext cx="5138976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at a Glance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9376" y="1763316"/>
            <a:ext cx="6479381" cy="67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1,574</a:t>
            </a:r>
            <a:endParaRPr lang="en-US" sz="5300" dirty="0"/>
          </a:p>
        </p:txBody>
      </p:sp>
      <p:sp>
        <p:nvSpPr>
          <p:cNvPr id="4" name="Text 2"/>
          <p:cNvSpPr/>
          <p:nvPr/>
        </p:nvSpPr>
        <p:spPr>
          <a:xfrm>
            <a:off x="2674263" y="2684026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Dip Rows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9376" y="3116818"/>
            <a:ext cx="6479381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744 binary + 830 ternary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31524" y="1763316"/>
            <a:ext cx="6479500" cy="67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220</a:t>
            </a:r>
            <a:endParaRPr lang="en-US" sz="5300" dirty="0"/>
          </a:p>
        </p:txBody>
      </p:sp>
      <p:sp>
        <p:nvSpPr>
          <p:cNvPr id="7" name="Text 5"/>
          <p:cNvSpPr/>
          <p:nvPr/>
        </p:nvSpPr>
        <p:spPr>
          <a:xfrm>
            <a:off x="9386530" y="2684026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Chemsys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31524" y="3116818"/>
            <a:ext cx="6479500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52 binary, 168 ternary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9376" y="3905607"/>
            <a:ext cx="6479381" cy="67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5300" dirty="0"/>
          </a:p>
        </p:txBody>
      </p:sp>
      <p:sp>
        <p:nvSpPr>
          <p:cNvPr id="10" name="Text 8"/>
          <p:cNvSpPr/>
          <p:nvPr/>
        </p:nvSpPr>
        <p:spPr>
          <a:xfrm>
            <a:off x="2674263" y="4826318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Blocks Detected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9376" y="5259110"/>
            <a:ext cx="6479381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d-block and s-block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31524" y="3905607"/>
            <a:ext cx="6479500" cy="67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5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5300" dirty="0"/>
          </a:p>
        </p:txBody>
      </p:sp>
      <p:sp>
        <p:nvSpPr>
          <p:cNvPr id="13" name="Text 11"/>
          <p:cNvSpPr/>
          <p:nvPr/>
        </p:nvSpPr>
        <p:spPr>
          <a:xfrm>
            <a:off x="9386530" y="4826318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Ligand Types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31524" y="5259110"/>
            <a:ext cx="6479500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Oxide (O) and sulfide (S)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9376" y="5968365"/>
            <a:ext cx="2706172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- </a:t>
            </a:r>
            <a:r>
              <a:rPr lang="el-GR" sz="2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</a:t>
            </a:r>
            <a:r>
              <a:rPr lang="en-US" sz="2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Summary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9376" y="6475690"/>
            <a:ext cx="6345079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Range: </a:t>
            </a:r>
            <a:r>
              <a:rPr lang="en-US" sz="16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−1.617 to −0.011 eV/atom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Mean: −0.174 | Median: −0.108</a:t>
            </a:r>
            <a:endParaRPr lang="en-US" sz="1600" dirty="0"/>
          </a:p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d-block: 652 rows | s-block: 92 rows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73566" y="5968365"/>
            <a:ext cx="2872145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Ternary - </a:t>
            </a:r>
            <a:r>
              <a:rPr lang="el-GR" sz="2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</a:t>
            </a:r>
            <a:r>
              <a:rPr lang="en-US" sz="2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Summary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573566" y="6475690"/>
            <a:ext cx="6345079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Range: </a:t>
            </a:r>
            <a:r>
              <a:rPr lang="en-US" sz="16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−0.766 to −0.038 eV/atom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Mean: −0.133 | Median: −0.106</a:t>
            </a:r>
            <a:endParaRPr lang="en-US" sz="1600" dirty="0"/>
          </a:p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d-block: 762 rows | s-block: 68 rows</a:t>
            </a:r>
            <a:endParaRPr lang="en-US" sz="1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99B5CD1-043C-CDD5-3661-D67C1258DEEE}"/>
                  </a:ext>
                </a:extLst>
              </p14:cNvPr>
              <p14:cNvContentPartPr/>
              <p14:nvPr/>
            </p14:nvContentPartPr>
            <p14:xfrm>
              <a:off x="-557842" y="2720643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99B5CD1-043C-CDD5-3661-D67C1258DE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611482" y="2613003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9025" y="831652"/>
            <a:ext cx="7605951" cy="137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Systems - Ligand &amp; Block Distribution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65" y="2564700"/>
            <a:ext cx="4125570" cy="254634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392359" y="3106780"/>
            <a:ext cx="1616519" cy="281838"/>
          </a:xfrm>
          <a:prstGeom prst="roundRect">
            <a:avLst>
              <a:gd name="adj" fmla="val 7704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989" y="3173882"/>
            <a:ext cx="161920" cy="1619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654231" y="3230271"/>
            <a:ext cx="1275231" cy="210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d-block / O·50.88%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5407186" y="3414033"/>
            <a:ext cx="1616519" cy="267034"/>
          </a:xfrm>
          <a:prstGeom prst="roundRect">
            <a:avLst>
              <a:gd name="adj" fmla="val 7704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1989" y="3456529"/>
            <a:ext cx="161920" cy="1619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641380" y="3537489"/>
            <a:ext cx="1244340" cy="210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d-block / S·25.91%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5407185" y="3699410"/>
            <a:ext cx="1602617" cy="267034"/>
          </a:xfrm>
          <a:prstGeom prst="roundRect">
            <a:avLst>
              <a:gd name="adj" fmla="val 7704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1989" y="3756914"/>
            <a:ext cx="161920" cy="1619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628638" y="3801642"/>
            <a:ext cx="1257082" cy="210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s-block / O·13.55%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5407187" y="3979510"/>
            <a:ext cx="1601692" cy="283647"/>
          </a:xfrm>
          <a:prstGeom prst="roundRect">
            <a:avLst>
              <a:gd name="adj" fmla="val 77044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1989" y="4070380"/>
            <a:ext cx="161920" cy="1619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628638" y="4107696"/>
            <a:ext cx="1149928" cy="210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s-block / S·9.66%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7344829" y="2636531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Observations</a:t>
            </a:r>
            <a:endParaRPr lang="en-US" sz="2150" dirty="0"/>
          </a:p>
        </p:txBody>
      </p:sp>
      <p:sp>
        <p:nvSpPr>
          <p:cNvPr id="26" name="Text 18"/>
          <p:cNvSpPr/>
          <p:nvPr/>
        </p:nvSpPr>
        <p:spPr>
          <a:xfrm>
            <a:off x="7344829" y="3192553"/>
            <a:ext cx="6013659" cy="4030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Oxide ligands dominate: </a:t>
            </a:r>
            <a:r>
              <a:rPr lang="en-US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547 of 744</a:t>
            </a: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binary rows (73.5%) use O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d-block compounds account for </a:t>
            </a:r>
            <a:r>
              <a:rPr lang="en-US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87.6%</a:t>
            </a: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of binary entries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Sulfide systems are concentrated in d-block (197 total rows across both complexities)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 accepted entries satisfy </a:t>
            </a:r>
            <a:r>
              <a:rPr lang="el-GR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Δ</a:t>
            </a: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 &lt; 0 eV/atom - no borderline cases remain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8E6006-0D61-D3A9-F845-37B79D0B9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11" y="454186"/>
            <a:ext cx="8193178" cy="48687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B0EDE1-569F-C33A-9525-27D46CB5F7F1}"/>
              </a:ext>
            </a:extLst>
          </p:cNvPr>
          <p:cNvSpPr txBox="1"/>
          <p:nvPr/>
        </p:nvSpPr>
        <p:spPr>
          <a:xfrm>
            <a:off x="4589362" y="5440630"/>
            <a:ext cx="627926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Example dip from the Plot, where the </a:t>
            </a:r>
            <a:r>
              <a:rPr lang="en-US" dirty="0" err="1"/>
              <a:t>deltaE</a:t>
            </a:r>
            <a:r>
              <a:rPr lang="en-US" dirty="0"/>
              <a:t> is calculated as:</a:t>
            </a:r>
          </a:p>
          <a:p>
            <a:pPr algn="ctr"/>
            <a:endParaRPr lang="en-US" dirty="0"/>
          </a:p>
          <a:p>
            <a:pPr algn="ctr"/>
            <a:r>
              <a:rPr lang="en-IN" b="1" dirty="0"/>
              <a:t>Dip detection method: </a:t>
            </a: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r>
              <a:rPr lang="en-IN" dirty="0"/>
              <a:t>local max → drop </a:t>
            </a: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r>
              <a:rPr lang="en-IN" dirty="0"/>
              <a:t>gradient fallback </a:t>
            </a:r>
          </a:p>
          <a:p>
            <a:pPr algn="ctr"/>
            <a:r>
              <a:rPr lang="en-IN" b="1" dirty="0"/>
              <a:t>Baseline definition: </a:t>
            </a:r>
          </a:p>
          <a:p>
            <a:pPr marL="742950" lvl="1" indent="-285750" algn="ctr">
              <a:buFont typeface="Arial" panose="020B0604020202020204" pitchFamily="34" charset="0"/>
              <a:buChar char="•"/>
            </a:pPr>
            <a:r>
              <a:rPr lang="en-IN" dirty="0"/>
              <a:t>line between flanking maxima </a:t>
            </a:r>
          </a:p>
          <a:p>
            <a:pPr algn="ctr"/>
            <a:r>
              <a:rPr lang="el-GR" b="1" dirty="0"/>
              <a:t>Δ</a:t>
            </a:r>
            <a:r>
              <a:rPr lang="en-IN" b="1" dirty="0"/>
              <a:t>E definition: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l-GR" dirty="0"/>
              <a:t>Δ</a:t>
            </a:r>
            <a:r>
              <a:rPr lang="en-IN" dirty="0"/>
              <a:t>E = </a:t>
            </a:r>
            <a:r>
              <a:rPr lang="en-IN" dirty="0" err="1"/>
              <a:t>E_dip</a:t>
            </a:r>
            <a:r>
              <a:rPr lang="en-IN" dirty="0"/>
              <a:t> − </a:t>
            </a:r>
            <a:r>
              <a:rPr lang="en-IN" dirty="0" err="1"/>
              <a:t>E_baseline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3104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566618"/>
            <a:ext cx="816614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Top 20 - Most Negative </a:t>
            </a:r>
            <a:r>
              <a:rPr lang="el-GR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</a:t>
            </a: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94611" y="1642348"/>
            <a:ext cx="7750969" cy="5825252"/>
          </a:xfrm>
          <a:prstGeom prst="roundRect">
            <a:avLst>
              <a:gd name="adj" fmla="val 306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0946" y="1761768"/>
            <a:ext cx="130504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l-GR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Δ</a:t>
            </a: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 (eV/at.)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2602706" y="1761768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Chemsys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995023" y="1761768"/>
            <a:ext cx="285226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Structure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244001" y="1761768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Block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00946" y="2290643"/>
            <a:ext cx="130504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−1.6174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2602706" y="2290643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Mg-S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995023" y="2290643"/>
            <a:ext cx="285226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Mg149S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244001" y="2290643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00946" y="2819519"/>
            <a:ext cx="130504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−1.6058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602706" y="2819519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Ti-O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995023" y="2819519"/>
            <a:ext cx="285226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Ti3O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244001" y="2819519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00946" y="3348395"/>
            <a:ext cx="130504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−1.6028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2602706" y="3348395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Ti-O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995023" y="3348395"/>
            <a:ext cx="285226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Ti3O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244001" y="3348395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00946" y="3877270"/>
            <a:ext cx="130504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−1.5313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2602706" y="3877270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Ti-O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995023" y="3877270"/>
            <a:ext cx="285226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Ti3O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244001" y="3877270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00946" y="4406146"/>
            <a:ext cx="130504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−1.3911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2602706" y="4406146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Ti-O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3995023" y="4406146"/>
            <a:ext cx="285226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Ti2O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244001" y="4406146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00946" y="4935022"/>
            <a:ext cx="130504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−1.3819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602706" y="4935022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Ti-O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3995023" y="4935022"/>
            <a:ext cx="285226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Ti2O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244001" y="4935022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00946" y="5463897"/>
            <a:ext cx="130504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−1.0842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2602706" y="5463897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Nb-S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3995023" y="5463897"/>
            <a:ext cx="285226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Nb14S5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7244001" y="5463897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900946" y="5992773"/>
            <a:ext cx="130504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−1.0108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2602706" y="5992773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Li-O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3995023" y="5992773"/>
            <a:ext cx="285226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Li2O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7244001" y="5992773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900946" y="6521648"/>
            <a:ext cx="130504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−0.8773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2602706" y="6521648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Ti-O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3995023" y="6521648"/>
            <a:ext cx="285226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TiO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7244001" y="6521648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900946" y="7050524"/>
            <a:ext cx="130504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−0.7231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2602706" y="7050524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Zr-S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3995023" y="7050524"/>
            <a:ext cx="285226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Zr9S2</a:t>
            </a:r>
            <a:endParaRPr lang="en-US" sz="1550" dirty="0"/>
          </a:p>
        </p:txBody>
      </p:sp>
      <p:sp>
        <p:nvSpPr>
          <p:cNvPr id="47" name="Text 45"/>
          <p:cNvSpPr/>
          <p:nvPr/>
        </p:nvSpPr>
        <p:spPr>
          <a:xfrm>
            <a:off x="7244001" y="7050524"/>
            <a:ext cx="99560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</a:t>
            </a:r>
            <a:endParaRPr lang="en-US" sz="1550" dirty="0"/>
          </a:p>
        </p:txBody>
      </p:sp>
      <p:sp>
        <p:nvSpPr>
          <p:cNvPr id="48" name="Shape 46"/>
          <p:cNvSpPr/>
          <p:nvPr/>
        </p:nvSpPr>
        <p:spPr>
          <a:xfrm>
            <a:off x="8794433" y="1447086"/>
            <a:ext cx="5291733" cy="6215777"/>
          </a:xfrm>
          <a:prstGeom prst="roundRect">
            <a:avLst>
              <a:gd name="adj" fmla="val 5401"/>
            </a:avLst>
          </a:prstGeom>
          <a:solidFill>
            <a:srgbClr val="FFF0ED"/>
          </a:solidFill>
          <a:ln/>
        </p:spPr>
      </p:sp>
      <p:sp>
        <p:nvSpPr>
          <p:cNvPr id="49" name="Text 47"/>
          <p:cNvSpPr/>
          <p:nvPr/>
        </p:nvSpPr>
        <p:spPr>
          <a:xfrm>
            <a:off x="8992791" y="162067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Standout Systems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8992791" y="2104430"/>
            <a:ext cx="489501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Mg-S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leads all binary systems at −1.617 eV/atom - the global minimum across the entire dataset.</a:t>
            </a:r>
            <a:endParaRPr lang="en-US" sz="1550" dirty="0"/>
          </a:p>
        </p:txBody>
      </p:sp>
      <p:sp>
        <p:nvSpPr>
          <p:cNvPr id="51" name="Text 49"/>
          <p:cNvSpPr/>
          <p:nvPr/>
        </p:nvSpPr>
        <p:spPr>
          <a:xfrm>
            <a:off x="8992791" y="2855952"/>
            <a:ext cx="489501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Ti-O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dominates the top rankings with 9 entries in the top 20, spanning Ti3O, Ti2O, and TiO stoichiometries.</a:t>
            </a:r>
            <a:endParaRPr lang="en-US" sz="1550" dirty="0"/>
          </a:p>
        </p:txBody>
      </p:sp>
      <p:sp>
        <p:nvSpPr>
          <p:cNvPr id="52" name="Text 50"/>
          <p:cNvSpPr/>
          <p:nvPr/>
        </p:nvSpPr>
        <p:spPr>
          <a:xfrm>
            <a:off x="9026187" y="3798460"/>
            <a:ext cx="489501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Li-O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is the strongest s-block oxide system (−1.011 eV/atom), while </a:t>
            </a: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Nb-S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is the top d-block sulfide.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524F02-FA25-E8AF-F3F6-60A3FA085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01" y="4114800"/>
            <a:ext cx="6285640" cy="37417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3DB87D-16CD-0C3B-9962-7DD595AD1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00" y="71354"/>
            <a:ext cx="6285641" cy="37417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79DE51-1694-B7BA-E8F1-67CDAEDB0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152" y="71354"/>
            <a:ext cx="6285641" cy="37417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054A76-E036-A9B5-A0B3-0BE17D2D7B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152" y="4114799"/>
            <a:ext cx="6285641" cy="37417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F42A469-4890-1DC4-F9BE-3F3B6C5F8F67}"/>
              </a:ext>
            </a:extLst>
          </p:cNvPr>
          <p:cNvSpPr txBox="1"/>
          <p:nvPr/>
        </p:nvSpPr>
        <p:spPr>
          <a:xfrm>
            <a:off x="6313402" y="7856554"/>
            <a:ext cx="2789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Binary comparison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7943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588288"/>
            <a:ext cx="10141387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Bottom 20 - Weakest Accepted </a:t>
            </a:r>
            <a:r>
              <a:rPr lang="el-GR" sz="3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</a:t>
            </a:r>
            <a:r>
              <a:rPr lang="en-US" sz="3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6993" y="1579364"/>
            <a:ext cx="1321641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 entries satisfy the </a:t>
            </a:r>
            <a:r>
              <a:rPr lang="el-GR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Δ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 &lt; 0 threshold. These represent the </a:t>
            </a: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shallowest dips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still retained in the dataset - useful for identifying near-threshold artifact cases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06993" y="2595205"/>
            <a:ext cx="7047190" cy="4843701"/>
          </a:xfrm>
          <a:prstGeom prst="roundRect">
            <a:avLst>
              <a:gd name="adj" fmla="val 375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4613" y="2602825"/>
            <a:ext cx="7031950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6662" y="2718316"/>
            <a:ext cx="135028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l-GR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Δ</a:t>
            </a: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 (eV/at.)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2678430" y="2718316"/>
            <a:ext cx="99488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Chemsys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084796" y="2718316"/>
            <a:ext cx="2260640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Structure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756916" y="2718316"/>
            <a:ext cx="78771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Block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14613" y="3139321"/>
            <a:ext cx="7031950" cy="5364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16662" y="3254812"/>
            <a:ext cx="135028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−0.0108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678430" y="3254812"/>
            <a:ext cx="99488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Mg-O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084796" y="3254812"/>
            <a:ext cx="2260640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MgO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756916" y="3254812"/>
            <a:ext cx="78771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14613" y="3675817"/>
            <a:ext cx="7031950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6662" y="3791307"/>
            <a:ext cx="135028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−0.0132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2678430" y="3791307"/>
            <a:ext cx="99488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Mg-O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084796" y="3791307"/>
            <a:ext cx="2260640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MgO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756916" y="3791307"/>
            <a:ext cx="78771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14613" y="4212312"/>
            <a:ext cx="7031950" cy="5364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16662" y="4327803"/>
            <a:ext cx="135028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−0.0156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2678430" y="4327803"/>
            <a:ext cx="99488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V-O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084796" y="4327803"/>
            <a:ext cx="2260640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V2O3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756916" y="4327803"/>
            <a:ext cx="78771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14613" y="4748808"/>
            <a:ext cx="7031950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16662" y="4864298"/>
            <a:ext cx="135028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−0.0295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2678430" y="4864298"/>
            <a:ext cx="99488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Mn-O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084796" y="4864298"/>
            <a:ext cx="2260640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Mn3O4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756916" y="4864298"/>
            <a:ext cx="78771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714613" y="5285303"/>
            <a:ext cx="7031950" cy="5364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16662" y="5400794"/>
            <a:ext cx="135028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−0.0426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2678430" y="5400794"/>
            <a:ext cx="99488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Hf-O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084796" y="5400794"/>
            <a:ext cx="2260640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HfO2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6756916" y="5400794"/>
            <a:ext cx="78771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</a:t>
            </a:r>
            <a:endParaRPr lang="en-US" sz="1550" dirty="0"/>
          </a:p>
        </p:txBody>
      </p:sp>
      <p:sp>
        <p:nvSpPr>
          <p:cNvPr id="35" name="Shape 33"/>
          <p:cNvSpPr/>
          <p:nvPr/>
        </p:nvSpPr>
        <p:spPr>
          <a:xfrm>
            <a:off x="714613" y="5821799"/>
            <a:ext cx="7031950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16662" y="5937290"/>
            <a:ext cx="135028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−0.0429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2678430" y="5937290"/>
            <a:ext cx="99488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Cs-O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4084796" y="5937290"/>
            <a:ext cx="2260640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Cs7O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6756916" y="5937290"/>
            <a:ext cx="78771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</a:t>
            </a:r>
            <a:endParaRPr lang="en-US" sz="1550" dirty="0"/>
          </a:p>
        </p:txBody>
      </p:sp>
      <p:sp>
        <p:nvSpPr>
          <p:cNvPr id="40" name="Shape 38"/>
          <p:cNvSpPr/>
          <p:nvPr/>
        </p:nvSpPr>
        <p:spPr>
          <a:xfrm>
            <a:off x="714613" y="6358295"/>
            <a:ext cx="7031950" cy="5364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16662" y="6473785"/>
            <a:ext cx="135028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−0.0529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2678430" y="6473785"/>
            <a:ext cx="99488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Sr-O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4084796" y="6473785"/>
            <a:ext cx="2260640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SrO2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6756916" y="6473785"/>
            <a:ext cx="78771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</a:t>
            </a:r>
            <a:endParaRPr lang="en-US" sz="1550" dirty="0"/>
          </a:p>
        </p:txBody>
      </p:sp>
      <p:sp>
        <p:nvSpPr>
          <p:cNvPr id="45" name="Shape 43"/>
          <p:cNvSpPr/>
          <p:nvPr/>
        </p:nvSpPr>
        <p:spPr>
          <a:xfrm>
            <a:off x="714613" y="6894790"/>
            <a:ext cx="7031950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916662" y="7010281"/>
            <a:ext cx="135028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−0.0541</a:t>
            </a:r>
            <a:endParaRPr lang="en-US" sz="1550" dirty="0"/>
          </a:p>
        </p:txBody>
      </p:sp>
      <p:sp>
        <p:nvSpPr>
          <p:cNvPr id="47" name="Text 45"/>
          <p:cNvSpPr/>
          <p:nvPr/>
        </p:nvSpPr>
        <p:spPr>
          <a:xfrm>
            <a:off x="2678430" y="7010281"/>
            <a:ext cx="99488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Co-O</a:t>
            </a:r>
            <a:endParaRPr lang="en-US" sz="1550" dirty="0"/>
          </a:p>
        </p:txBody>
      </p:sp>
      <p:sp>
        <p:nvSpPr>
          <p:cNvPr id="48" name="Text 46"/>
          <p:cNvSpPr/>
          <p:nvPr/>
        </p:nvSpPr>
        <p:spPr>
          <a:xfrm>
            <a:off x="4084796" y="7010281"/>
            <a:ext cx="2260640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CoO</a:t>
            </a:r>
            <a:endParaRPr lang="en-US" sz="1550" dirty="0"/>
          </a:p>
        </p:txBody>
      </p:sp>
      <p:sp>
        <p:nvSpPr>
          <p:cNvPr id="49" name="Text 47"/>
          <p:cNvSpPr/>
          <p:nvPr/>
        </p:nvSpPr>
        <p:spPr>
          <a:xfrm>
            <a:off x="6756916" y="7010281"/>
            <a:ext cx="78771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</a:t>
            </a:r>
            <a:endParaRPr lang="en-US" sz="1550" dirty="0"/>
          </a:p>
        </p:txBody>
      </p:sp>
      <p:sp>
        <p:nvSpPr>
          <p:cNvPr id="50" name="Shape 48"/>
          <p:cNvSpPr/>
          <p:nvPr/>
        </p:nvSpPr>
        <p:spPr>
          <a:xfrm>
            <a:off x="8254722" y="2595205"/>
            <a:ext cx="5676186" cy="1715333"/>
          </a:xfrm>
          <a:prstGeom prst="roundRect">
            <a:avLst>
              <a:gd name="adj" fmla="val 10599"/>
            </a:avLst>
          </a:prstGeom>
          <a:solidFill>
            <a:srgbClr val="B6D6FC"/>
          </a:solidFill>
          <a:ln/>
        </p:spPr>
      </p:sp>
      <p:pic>
        <p:nvPicPr>
          <p:cNvPr id="5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652" y="2769987"/>
            <a:ext cx="252413" cy="201930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8910995" y="2675664"/>
            <a:ext cx="4817983" cy="1554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Marginal systems such as MgO (−0.011), V2O3 (−0.016), and Mn3O4 (~−0.030) sit just above the noise floor. These may warrant closer inspection for dataset sensitivity to the acceptance threshold.</a:t>
            </a:r>
            <a:endParaRPr lang="en-US" sz="1550" dirty="0"/>
          </a:p>
        </p:txBody>
      </p:sp>
      <p:sp>
        <p:nvSpPr>
          <p:cNvPr id="53" name="Text 50"/>
          <p:cNvSpPr/>
          <p:nvPr/>
        </p:nvSpPr>
        <p:spPr>
          <a:xfrm>
            <a:off x="8254722" y="4512945"/>
            <a:ext cx="5676186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Notable: </a:t>
            </a: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Cs-O, Sr-O, K-O, Na-O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all appear near the boundary, suggesting weak energetic preference in heavy s-block oxide binaries.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9025" y="658654"/>
            <a:ext cx="7605951" cy="137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Ternary Systems - Top Metal Pairs by </a:t>
            </a:r>
            <a:r>
              <a:rPr lang="el-GR" sz="43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</a:t>
            </a:r>
            <a:r>
              <a:rPr lang="en-US" sz="43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4300" dirty="0"/>
          </a:p>
        </p:txBody>
      </p:sp>
      <p:sp>
        <p:nvSpPr>
          <p:cNvPr id="6" name="Text 2"/>
          <p:cNvSpPr/>
          <p:nvPr/>
        </p:nvSpPr>
        <p:spPr>
          <a:xfrm>
            <a:off x="616432" y="2304337"/>
            <a:ext cx="6698768" cy="5496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Sc-Zr-O exhibits the most negative </a:t>
            </a:r>
            <a:r>
              <a:rPr lang="el-GR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Δ</a:t>
            </a:r>
            <a:r>
              <a:rPr lang="en-IN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</a:t>
            </a:r>
            <a:r>
              <a:rPr lang="en-US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(−0.766 eV/atom; Zr25Sc6O59), indicating the strongest D3-induced spurious stabilization.</a:t>
            </a:r>
          </a:p>
          <a:p>
            <a:pPr algn="l">
              <a:lnSpc>
                <a:spcPts val="2700"/>
              </a:lnSpc>
              <a:buSzPct val="100000"/>
            </a:pPr>
            <a:endParaRPr lang="en-US" sz="1700" b="1" dirty="0">
              <a:solidFill>
                <a:srgbClr val="55575A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Nb-Ni-O and Hf-Re-S follow closely, with Hf-Re-S representing the most prominent sulfide system exhibiting such artifacts.</a:t>
            </a:r>
          </a:p>
          <a:p>
            <a:pPr algn="l">
              <a:lnSpc>
                <a:spcPts val="2700"/>
              </a:lnSpc>
              <a:buSzPct val="100000"/>
            </a:pPr>
            <a:endParaRPr lang="en-US" sz="1700" b="1" dirty="0">
              <a:solidFill>
                <a:srgbClr val="55575A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Zr-based pairs (Sc-Zr, Fe-Zr, Ni-Zr, Co-Zr) appear frequently among the most negative </a:t>
            </a:r>
            <a:r>
              <a:rPr lang="el-GR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Δ</a:t>
            </a:r>
            <a:r>
              <a:rPr lang="en-IN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</a:t>
            </a:r>
            <a:r>
              <a:rPr lang="en-US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values, suggesting that Zr-containing systems are particularly prone to D3 over binding artifacts</a:t>
            </a:r>
          </a:p>
          <a:p>
            <a:pPr algn="l">
              <a:lnSpc>
                <a:spcPts val="2700"/>
              </a:lnSpc>
              <a:buSzPct val="100000"/>
            </a:pPr>
            <a:endParaRPr lang="en-US" sz="1700" b="1" dirty="0">
              <a:solidFill>
                <a:srgbClr val="55575A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Ti-based pairs (Ni-Ti, Mn-Ti, Fe-Ti, Co-Ti) dominate the mid-range </a:t>
            </a:r>
            <a:r>
              <a:rPr lang="el-GR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Δ</a:t>
            </a:r>
            <a:r>
              <a:rPr lang="en-IN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</a:t>
            </a:r>
            <a:r>
              <a:rPr lang="en-US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regime, consistent with trends observed in binary systems.</a:t>
            </a:r>
            <a:endParaRPr lang="en-US" sz="17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4544FB1-7490-F421-7445-B3CCB2501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330" y="2205542"/>
            <a:ext cx="6601657" cy="53295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C18DEA-E519-3984-A0A6-5B7ABF092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07" y="268034"/>
            <a:ext cx="5926840" cy="38467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019BAB-708C-E34C-49F1-8EDD95231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53" y="268034"/>
            <a:ext cx="5926841" cy="3846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BF9B1E-E738-0863-073E-B75427953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353" y="4198861"/>
            <a:ext cx="5926841" cy="38522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82D556-6BCE-E107-1BC3-21F8AA1DEB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9206" y="4198861"/>
            <a:ext cx="5926841" cy="38467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BA37F44-3330-5B78-7B75-13E395FBA399}"/>
              </a:ext>
            </a:extLst>
          </p:cNvPr>
          <p:cNvSpPr txBox="1"/>
          <p:nvPr/>
        </p:nvSpPr>
        <p:spPr>
          <a:xfrm rot="16200000">
            <a:off x="-1938148" y="4014195"/>
            <a:ext cx="4750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Binary compounds – Most Negative delta E vs EN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5950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0568" y="525899"/>
            <a:ext cx="9305925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Packing Efficiency vs. </a:t>
            </a:r>
            <a:r>
              <a:rPr lang="el-GR" sz="3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</a:t>
            </a:r>
            <a:r>
              <a:rPr lang="en-US" sz="3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- Correlation Analysis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793" y="1269563"/>
            <a:ext cx="11249144" cy="56301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41221" y="3689892"/>
            <a:ext cx="2112695" cy="97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</a:t>
            </a:r>
            <a:r>
              <a:rPr lang="el-GR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</a:t>
            </a: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(</a:t>
            </a:r>
            <a:r>
              <a:rPr lang="en-IN" sz="2000" dirty="0"/>
              <a:t>stronger D3-induced artifact</a:t>
            </a: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037550" y="6420312"/>
            <a:ext cx="2560099" cy="316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Packing Fraction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765127" y="3689892"/>
            <a:ext cx="2112695" cy="632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</a:t>
            </a:r>
            <a:r>
              <a:rPr lang="el-GR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</a:t>
            </a: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(</a:t>
            </a:r>
            <a:r>
              <a:rPr lang="en-IN" sz="2000" dirty="0"/>
              <a:t>weaker artifact</a:t>
            </a: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002959" y="1500639"/>
            <a:ext cx="2616813" cy="316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Packing Fraction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4842837" y="5204705"/>
            <a:ext cx="2168884" cy="434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s-block binary: corr +0.05</a:t>
            </a:r>
            <a:endParaRPr lang="en-US" sz="15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3930" y="4488123"/>
            <a:ext cx="314657" cy="3146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20839" y="5215942"/>
            <a:ext cx="2168884" cy="434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d-block binary: corr −0.41</a:t>
            </a:r>
            <a:endParaRPr lang="en-US" sz="15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47953" y="4494795"/>
            <a:ext cx="314657" cy="31465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20839" y="3136960"/>
            <a:ext cx="2168884" cy="434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s-block ternary: corr +0.04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47953" y="2415813"/>
            <a:ext cx="314657" cy="31465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75411" y="3136960"/>
            <a:ext cx="2168884" cy="434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d-block ternary: corr −0.44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02524" y="2415813"/>
            <a:ext cx="314657" cy="31465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90568" y="7031474"/>
            <a:ext cx="11249144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d-block systems show a consistent moderate negative correlation (r ≈ −0.41 to −0.44) between packing fraction and </a:t>
            </a:r>
            <a:r>
              <a:rPr lang="el-GR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Δ</a:t>
            </a: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E, indicating that denser packing enhances D3-induced spurious stabilization. s-block systems show near-zero correlation, suggesting packing geometry is not a primary driver of this artifact in these compounds.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52701"/>
            <a:ext cx="12707422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200"/>
              </a:lnSpc>
            </a:pPr>
            <a:r>
              <a:rPr lang="en-US" sz="41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Within-</a:t>
            </a:r>
            <a:r>
              <a:rPr lang="en-US" sz="4150" dirty="0" err="1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Chemsys</a:t>
            </a:r>
            <a:r>
              <a:rPr lang="en-US" sz="41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Correlation Extremes</a:t>
            </a:r>
          </a:p>
          <a:p>
            <a:pPr>
              <a:lnSpc>
                <a:spcPts val="5200"/>
              </a:lnSpc>
            </a:pPr>
            <a:r>
              <a:rPr lang="en-US" sz="41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</a:t>
            </a:r>
            <a:r>
              <a:rPr lang="en-US" sz="4150" dirty="0" err="1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</a:t>
            </a:r>
            <a:r>
              <a:rPr lang="en-US" sz="41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</a:t>
            </a:r>
            <a:r>
              <a:rPr lang="en-US" sz="4150" dirty="0" err="1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packing_fraction</a:t>
            </a:r>
            <a:r>
              <a:rPr lang="en-US" sz="41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l-GR" sz="41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</a:t>
            </a:r>
            <a:r>
              <a:rPr lang="en-US" sz="41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E))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44260" y="2502888"/>
            <a:ext cx="6471285" cy="2120146"/>
          </a:xfrm>
          <a:prstGeom prst="roundRect">
            <a:avLst>
              <a:gd name="adj" fmla="val 9027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525" y="272315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d-block Binary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64525" y="3174996"/>
            <a:ext cx="603075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 negative: </a:t>
            </a:r>
            <a:r>
              <a:rPr lang="en-US" sz="16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Pd-O</a:t>
            </a: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 = −1.000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64525" y="3624099"/>
            <a:ext cx="603075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 positive: </a:t>
            </a:r>
            <a:r>
              <a:rPr lang="en-US" sz="16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Co-S</a:t>
            </a: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 = +1.000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64525" y="4073203"/>
            <a:ext cx="603075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31 of 35 chemsys with within-corr computed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14855" y="2502888"/>
            <a:ext cx="6471285" cy="2120146"/>
          </a:xfrm>
          <a:prstGeom prst="roundRect">
            <a:avLst>
              <a:gd name="adj" fmla="val 9027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121" y="272315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d-block Ternary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7635121" y="3174996"/>
            <a:ext cx="603075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 negative: </a:t>
            </a:r>
            <a:r>
              <a:rPr lang="en-US" sz="16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Mo-Hf-S</a:t>
            </a: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 = −1.000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635121" y="3624099"/>
            <a:ext cx="603075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 positive: </a:t>
            </a:r>
            <a:r>
              <a:rPr lang="en-US" sz="16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Hf-Re-S</a:t>
            </a: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 = +1.000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635121" y="4073203"/>
            <a:ext cx="603075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88 of 138 chemsys with within-corr computed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44260" y="4822344"/>
            <a:ext cx="6471285" cy="2120146"/>
          </a:xfrm>
          <a:prstGeom prst="roundRect">
            <a:avLst>
              <a:gd name="adj" fmla="val 9027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4525" y="5042610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s-block Binary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964525" y="5494452"/>
            <a:ext cx="603075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 negative: </a:t>
            </a:r>
            <a:r>
              <a:rPr lang="en-US" sz="16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Cs-S</a:t>
            </a: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 = −1.000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64525" y="5943556"/>
            <a:ext cx="603075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 positive: </a:t>
            </a:r>
            <a:r>
              <a:rPr lang="en-US" sz="16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Li-S</a:t>
            </a: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 = +0.9996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64525" y="6392660"/>
            <a:ext cx="603075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 of 17 chemsys with within-corr computed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414855" y="4822344"/>
            <a:ext cx="6471285" cy="2120146"/>
          </a:xfrm>
          <a:prstGeom prst="roundRect">
            <a:avLst>
              <a:gd name="adj" fmla="val 9027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121" y="5042610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s-block Ternary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7635121" y="5494452"/>
            <a:ext cx="603075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 negative: </a:t>
            </a:r>
            <a:r>
              <a:rPr lang="en-US" sz="16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Li-Ba-O</a:t>
            </a: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 = −1.000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635121" y="5943556"/>
            <a:ext cx="603075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 positive: </a:t>
            </a:r>
            <a:r>
              <a:rPr lang="en-US" sz="16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Rb-Cs-O</a:t>
            </a: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 = +1.000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635121" y="6392660"/>
            <a:ext cx="603075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 of 30 chemsys with within-corr computed</a:t>
            </a:r>
            <a:endParaRPr lang="en-US" sz="16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BD6D7B-85B2-C148-CCD0-3834E2FC1825}"/>
              </a:ext>
            </a:extLst>
          </p:cNvPr>
          <p:cNvSpPr txBox="1"/>
          <p:nvPr/>
        </p:nvSpPr>
        <p:spPr>
          <a:xfrm>
            <a:off x="3757255" y="7162756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Most negative correlation (packing ↑ → stronger D3 artifact)</a:t>
            </a:r>
          </a:p>
          <a:p>
            <a:pPr algn="ctr"/>
            <a:r>
              <a:rPr lang="en-US" dirty="0"/>
              <a:t>Most positive correlation (packing ↑ → weaker D3 artifact)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772001"/>
            <a:ext cx="929818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Grouped </a:t>
            </a:r>
            <a:r>
              <a:rPr lang="el-GR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</a:t>
            </a: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Statistics - Block × Ligand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4611" y="18260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Systems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694611" y="2331482"/>
            <a:ext cx="6378535" cy="3842623"/>
          </a:xfrm>
          <a:prstGeom prst="roundRect">
            <a:avLst>
              <a:gd name="adj" fmla="val 464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0708" y="2450902"/>
            <a:ext cx="1381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2686169" y="2450902"/>
            <a:ext cx="74104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Cats.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831550" y="2450902"/>
            <a:ext cx="8683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 Neg </a:t>
            </a:r>
          </a:p>
          <a:p>
            <a:pPr>
              <a:lnSpc>
                <a:spcPts val="2300"/>
              </a:lnSpc>
            </a:pPr>
            <a:r>
              <a:rPr lang="el-GR" sz="16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</a:t>
            </a:r>
            <a:r>
              <a:rPr lang="en-US" sz="16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104208" y="2450902"/>
            <a:ext cx="1272541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Mean of most min </a:t>
            </a:r>
            <a:r>
              <a:rPr lang="el-GR" sz="16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</a:t>
            </a:r>
            <a:r>
              <a:rPr lang="en-US" sz="16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376868" y="2450902"/>
            <a:ext cx="49029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Ligand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00708" y="3277433"/>
            <a:ext cx="1381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d-block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2686169" y="3277433"/>
            <a:ext cx="74104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31550" y="3277433"/>
            <a:ext cx="86832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−1.606 [Ti]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104209" y="3277433"/>
            <a:ext cx="8683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−0.410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76868" y="3277433"/>
            <a:ext cx="49029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00708" y="4103965"/>
            <a:ext cx="1381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d-block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2686169" y="4103965"/>
            <a:ext cx="74104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831550" y="4103965"/>
            <a:ext cx="86832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−1.084 [Nb]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104209" y="4103965"/>
            <a:ext cx="8683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−0.344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376868" y="4103965"/>
            <a:ext cx="49029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00708" y="4930497"/>
            <a:ext cx="1381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s-block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2686169" y="4930497"/>
            <a:ext cx="74104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831550" y="4930497"/>
            <a:ext cx="8683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−1.011 [Li]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104209" y="4930497"/>
            <a:ext cx="8683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−0.433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376868" y="4930497"/>
            <a:ext cx="49029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00708" y="5459373"/>
            <a:ext cx="1381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s-block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2686169" y="5459373"/>
            <a:ext cx="74104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831550" y="5459373"/>
            <a:ext cx="86832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−1.617 [Mg]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104209" y="5459373"/>
            <a:ext cx="8683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−0.332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376868" y="5459373"/>
            <a:ext cx="49029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7564874" y="18260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Ternary Systems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7564874" y="2331482"/>
            <a:ext cx="6378535" cy="4140279"/>
          </a:xfrm>
          <a:prstGeom prst="roundRect">
            <a:avLst>
              <a:gd name="adj" fmla="val 431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1090" y="2450902"/>
            <a:ext cx="1381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9556552" y="2450902"/>
            <a:ext cx="74104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Cats.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10701933" y="2450902"/>
            <a:ext cx="995482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 Neg </a:t>
            </a:r>
          </a:p>
          <a:p>
            <a:pPr>
              <a:lnSpc>
                <a:spcPts val="2300"/>
              </a:lnSpc>
            </a:pPr>
            <a:r>
              <a:rPr lang="el-GR" sz="16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</a:t>
            </a:r>
            <a:r>
              <a:rPr lang="en-US" sz="16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11974592" y="2450902"/>
            <a:ext cx="128999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Mean of most min </a:t>
            </a:r>
            <a:r>
              <a:rPr lang="el-GR" sz="16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</a:t>
            </a:r>
            <a:r>
              <a:rPr lang="en-US" sz="16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13374410" y="2450902"/>
            <a:ext cx="363022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Ligand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7771090" y="3277433"/>
            <a:ext cx="1381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d-block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9556552" y="3277433"/>
            <a:ext cx="74104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95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10701933" y="3277433"/>
            <a:ext cx="995482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−0.766 [Sc-Zr]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12101751" y="3277433"/>
            <a:ext cx="8683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−0.220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13374410" y="3277433"/>
            <a:ext cx="363022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7771090" y="4103965"/>
            <a:ext cx="1381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d-block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9556552" y="4103965"/>
            <a:ext cx="74104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43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10701933" y="4103965"/>
            <a:ext cx="995482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−0.645 [Hf-Re]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12101751" y="4103965"/>
            <a:ext cx="8683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−0.173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13374410" y="4103965"/>
            <a:ext cx="363022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</a:t>
            </a:r>
            <a:endParaRPr lang="en-US" sz="1550" dirty="0"/>
          </a:p>
        </p:txBody>
      </p:sp>
      <p:sp>
        <p:nvSpPr>
          <p:cNvPr id="47" name="Text 45"/>
          <p:cNvSpPr/>
          <p:nvPr/>
        </p:nvSpPr>
        <p:spPr>
          <a:xfrm>
            <a:off x="7771090" y="4930497"/>
            <a:ext cx="1381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s-block</a:t>
            </a:r>
            <a:endParaRPr lang="en-US" sz="1550" dirty="0"/>
          </a:p>
        </p:txBody>
      </p:sp>
      <p:sp>
        <p:nvSpPr>
          <p:cNvPr id="48" name="Text 46"/>
          <p:cNvSpPr/>
          <p:nvPr/>
        </p:nvSpPr>
        <p:spPr>
          <a:xfrm>
            <a:off x="9556552" y="4930497"/>
            <a:ext cx="74104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26</a:t>
            </a:r>
            <a:endParaRPr lang="en-US" sz="1550" dirty="0"/>
          </a:p>
        </p:txBody>
      </p:sp>
      <p:sp>
        <p:nvSpPr>
          <p:cNvPr id="49" name="Text 47"/>
          <p:cNvSpPr/>
          <p:nvPr/>
        </p:nvSpPr>
        <p:spPr>
          <a:xfrm>
            <a:off x="10701933" y="4930497"/>
            <a:ext cx="995482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−0.378 [Ba-Na]</a:t>
            </a:r>
            <a:endParaRPr lang="en-US" sz="1550" dirty="0"/>
          </a:p>
        </p:txBody>
      </p:sp>
      <p:sp>
        <p:nvSpPr>
          <p:cNvPr id="50" name="Text 48"/>
          <p:cNvSpPr/>
          <p:nvPr/>
        </p:nvSpPr>
        <p:spPr>
          <a:xfrm>
            <a:off x="12101751" y="4930497"/>
            <a:ext cx="8683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−0.148</a:t>
            </a:r>
            <a:endParaRPr lang="en-US" sz="1550" dirty="0"/>
          </a:p>
        </p:txBody>
      </p:sp>
      <p:sp>
        <p:nvSpPr>
          <p:cNvPr id="51" name="Text 49"/>
          <p:cNvSpPr/>
          <p:nvPr/>
        </p:nvSpPr>
        <p:spPr>
          <a:xfrm>
            <a:off x="13374410" y="4930497"/>
            <a:ext cx="363022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</a:t>
            </a:r>
            <a:endParaRPr lang="en-US" sz="1550" dirty="0"/>
          </a:p>
        </p:txBody>
      </p:sp>
      <p:sp>
        <p:nvSpPr>
          <p:cNvPr id="52" name="Text 50"/>
          <p:cNvSpPr/>
          <p:nvPr/>
        </p:nvSpPr>
        <p:spPr>
          <a:xfrm>
            <a:off x="7771090" y="5757029"/>
            <a:ext cx="1381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s-block</a:t>
            </a:r>
            <a:endParaRPr lang="en-US" sz="1550" dirty="0"/>
          </a:p>
        </p:txBody>
      </p:sp>
      <p:sp>
        <p:nvSpPr>
          <p:cNvPr id="53" name="Text 51"/>
          <p:cNvSpPr/>
          <p:nvPr/>
        </p:nvSpPr>
        <p:spPr>
          <a:xfrm>
            <a:off x="9556552" y="5757029"/>
            <a:ext cx="74104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550" dirty="0"/>
          </a:p>
        </p:txBody>
      </p:sp>
      <p:sp>
        <p:nvSpPr>
          <p:cNvPr id="54" name="Text 52"/>
          <p:cNvSpPr/>
          <p:nvPr/>
        </p:nvSpPr>
        <p:spPr>
          <a:xfrm>
            <a:off x="10701933" y="5757029"/>
            <a:ext cx="995482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−0.101 [K-Na]</a:t>
            </a:r>
            <a:endParaRPr lang="en-US" sz="1550" dirty="0"/>
          </a:p>
        </p:txBody>
      </p:sp>
      <p:sp>
        <p:nvSpPr>
          <p:cNvPr id="55" name="Text 53"/>
          <p:cNvSpPr/>
          <p:nvPr/>
        </p:nvSpPr>
        <p:spPr>
          <a:xfrm>
            <a:off x="12101751" y="5757029"/>
            <a:ext cx="8683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−0.079</a:t>
            </a:r>
            <a:endParaRPr lang="en-US" sz="1550" dirty="0"/>
          </a:p>
        </p:txBody>
      </p:sp>
      <p:sp>
        <p:nvSpPr>
          <p:cNvPr id="56" name="Text 54"/>
          <p:cNvSpPr/>
          <p:nvPr/>
        </p:nvSpPr>
        <p:spPr>
          <a:xfrm>
            <a:off x="13374410" y="5757029"/>
            <a:ext cx="363022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</a:t>
            </a:r>
            <a:endParaRPr lang="en-US" sz="1550" dirty="0"/>
          </a:p>
        </p:txBody>
      </p:sp>
      <p:sp>
        <p:nvSpPr>
          <p:cNvPr id="57" name="Text 55"/>
          <p:cNvSpPr/>
          <p:nvPr/>
        </p:nvSpPr>
        <p:spPr>
          <a:xfrm>
            <a:off x="694611" y="6862286"/>
            <a:ext cx="1324117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s-block ternary sulfides form the smallest subset (4 categories) and exhibit the narrowest </a:t>
            </a:r>
            <a:r>
              <a:rPr lang="el-GR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Δ</a:t>
            </a: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 range (−0.057 to −0.101), indicating weak and relatively uniform D3-induced artifacts across these systems.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758" y="574953"/>
            <a:ext cx="6546652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Findings &amp; Takeaways</a:t>
            </a:r>
            <a:endParaRPr lang="en-US" sz="4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101" y="1523940"/>
            <a:ext cx="313611" cy="31361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11248" y="1517452"/>
            <a:ext cx="3984665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Mg-S &amp; Ti-O Show the Strongest D3 Artifacts</a:t>
            </a:r>
          </a:p>
        </p:txBody>
      </p:sp>
      <p:sp>
        <p:nvSpPr>
          <p:cNvPr id="6" name="Text 2"/>
          <p:cNvSpPr/>
          <p:nvPr/>
        </p:nvSpPr>
        <p:spPr>
          <a:xfrm>
            <a:off x="1411248" y="1959650"/>
            <a:ext cx="7000994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Mg149S (−1.617 eV/atom) and multiple Ti-O polymorphs exhibit the most pronounced D3-induced spurious stabilization. Ti-O alone contributes 9 of the top 20 binary artifact cases.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101" y="2994362"/>
            <a:ext cx="313611" cy="31361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11248" y="2987873"/>
            <a:ext cx="3565446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anose="020B0604020202020204" charset="0"/>
              </a:rPr>
              <a:t>Sc-Zr-O Shows the Strongest Ternary D3 Artifact</a:t>
            </a:r>
            <a:endParaRPr lang="en-US" sz="2050" dirty="0">
              <a:solidFill>
                <a:schemeClr val="tx1">
                  <a:lumMod val="65000"/>
                  <a:lumOff val="35000"/>
                </a:schemeClr>
              </a:solidFill>
              <a:latin typeface="Manrope" panose="020B060402020202020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1411248" y="3430071"/>
            <a:ext cx="7767476" cy="1233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anose="020B0604020202020204" charset="0"/>
              </a:rPr>
              <a:t>Zr25Sc6O59 (−0.766 eV/atom) exhibits the largest D3-induced artifact among ternary systems. Zr-containing pairs (Sc-Zr, Ni-Zr, Co-Zr, Fe-Zr) frequently appear among the most error-prone systems, indicating a strong susceptibility to D3 </a:t>
            </a:r>
            <a:r>
              <a:rPr lang="en-I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anrope" panose="020B0604020202020204" charset="0"/>
              </a:rPr>
              <a:t>overbinding</a:t>
            </a: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anose="020B0604020202020204" charset="0"/>
              </a:rPr>
              <a:t>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Manrope" panose="020B060402020202020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101" y="4786134"/>
            <a:ext cx="313611" cy="31361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11248" y="4779645"/>
            <a:ext cx="555509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400" dirty="0">
                <a:solidFill>
                  <a:srgbClr val="55575A"/>
                </a:solidFill>
                <a:latin typeface="Manrope" panose="020B0604020202020204" charset="0"/>
                <a:ea typeface="Inter" pitchFamily="34" charset="-122"/>
                <a:cs typeface="Inter" pitchFamily="34" charset="-120"/>
              </a:rPr>
              <a:t>Packing–Artifact Correlation Exists for d-block Only</a:t>
            </a:r>
            <a:endParaRPr lang="en-US" sz="2400" dirty="0">
              <a:latin typeface="Manrope" panose="020B060402020202020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411248" y="5221843"/>
            <a:ext cx="7000994" cy="912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anose="020B0604020202020204" charset="0"/>
              </a:rPr>
              <a:t>d-block systems show r ≈ -0.41 to -0.44, indicating that higher packing fraction correlates with stronger D3-induced artifacts. s-block systems show near-zero correlation (r ≈ +0.05), suggesting packing is not a key driver of this error.</a:t>
            </a: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101" y="6256556"/>
            <a:ext cx="313611" cy="31361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11248" y="6250067"/>
            <a:ext cx="4824412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anose="020B0604020202020204" charset="0"/>
              </a:rPr>
              <a:t>Oxides Dominate, Sulfides Show Strong Artifact Cases</a:t>
            </a:r>
            <a:endParaRPr lang="en-US" sz="2050" dirty="0">
              <a:solidFill>
                <a:schemeClr val="tx1">
                  <a:lumMod val="65000"/>
                  <a:lumOff val="35000"/>
                </a:schemeClr>
              </a:solidFill>
              <a:latin typeface="Manrope" panose="020B0604020202020204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1411248" y="6692265"/>
            <a:ext cx="7000994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anose="020B0604020202020204" charset="0"/>
              </a:rPr>
              <a:t>Oxides account for 73-89% of systems by ligand. However, several sulfide systems (Mg-S, Nb14S5, Hf-Re-S) exhibit some of the largest D3-induced artifacts, highlighting the need for targeted sulfide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ITR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ITR_template_sudiproy.pptx" id="{E7BE3218-A97E-4E6F-BE9F-92D6192B2CD5}" vid="{3EDE8FBA-E8F1-4B0B-AEA8-7DC234A91A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IITR_template</Template>
  <TotalTime>114</TotalTime>
  <Words>1293</Words>
  <Application>Microsoft Office PowerPoint</Application>
  <PresentationFormat>Custom</PresentationFormat>
  <Paragraphs>252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-apple-system, BlinkMacSystemFont, Segoe UI, Roboto, Helvetica Neue, Arial, sans-serif Medium</vt:lpstr>
      <vt:lpstr>Calibri</vt:lpstr>
      <vt:lpstr>Manrope</vt:lpstr>
      <vt:lpstr>Arial</vt:lpstr>
      <vt:lpstr>Inter</vt:lpstr>
      <vt:lpstr>Franklin Gothic Demi</vt:lpstr>
      <vt:lpstr>IITR_PPT_Template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Harsh Gupta</cp:lastModifiedBy>
  <cp:revision>5</cp:revision>
  <dcterms:created xsi:type="dcterms:W3CDTF">2026-04-23T16:55:17Z</dcterms:created>
  <dcterms:modified xsi:type="dcterms:W3CDTF">2026-04-23T18:52:18Z</dcterms:modified>
</cp:coreProperties>
</file>